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handoutMasterIdLst>
    <p:handoutMasterId r:id="rId19"/>
  </p:handoutMasterIdLst>
  <p:sldIdLst>
    <p:sldId id="257" r:id="rId2"/>
    <p:sldId id="302" r:id="rId3"/>
    <p:sldId id="259" r:id="rId4"/>
    <p:sldId id="261" r:id="rId5"/>
    <p:sldId id="283" r:id="rId6"/>
    <p:sldId id="285" r:id="rId7"/>
    <p:sldId id="307" r:id="rId8"/>
    <p:sldId id="308" r:id="rId9"/>
    <p:sldId id="309" r:id="rId10"/>
    <p:sldId id="310" r:id="rId11"/>
    <p:sldId id="311" r:id="rId12"/>
    <p:sldId id="312" r:id="rId13"/>
    <p:sldId id="313" r:id="rId14"/>
    <p:sldId id="291" r:id="rId15"/>
    <p:sldId id="306" r:id="rId16"/>
    <p:sldId id="28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autoAdjust="0"/>
    <p:restoredTop sz="94660"/>
  </p:normalViewPr>
  <p:slideViewPr>
    <p:cSldViewPr>
      <p:cViewPr>
        <p:scale>
          <a:sx n="72" d="100"/>
          <a:sy n="72" d="100"/>
        </p:scale>
        <p:origin x="1776"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58D04B-92CF-4C14-BCE4-F768192D49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Title of the Project</a:t>
            </a:r>
          </a:p>
        </p:txBody>
      </p:sp>
      <p:sp>
        <p:nvSpPr>
          <p:cNvPr id="3" name="Date Placeholder 2">
            <a:extLst>
              <a:ext uri="{FF2B5EF4-FFF2-40B4-BE49-F238E27FC236}">
                <a16:creationId xmlns:a16="http://schemas.microsoft.com/office/drawing/2014/main" id="{694A5695-6E2A-7FD7-8404-4BDA6F8DB71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034667C-7F5C-4A01-9412-7A243AC31FCF}" type="datetimeFigureOut">
              <a:rPr lang="en-IN" smtClean="0"/>
              <a:t>12-10-2024</a:t>
            </a:fld>
            <a:endParaRPr lang="en-IN"/>
          </a:p>
        </p:txBody>
      </p:sp>
      <p:sp>
        <p:nvSpPr>
          <p:cNvPr id="4" name="Footer Placeholder 3">
            <a:extLst>
              <a:ext uri="{FF2B5EF4-FFF2-40B4-BE49-F238E27FC236}">
                <a16:creationId xmlns:a16="http://schemas.microsoft.com/office/drawing/2014/main" id="{C6318A49-543B-2683-052B-EEC23EFE753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957B13CB-9F75-C67E-F5B1-EB8684C925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BCF30E-E3F6-4DFA-986E-367F44A4B754}" type="slidenum">
              <a:rPr lang="en-IN" smtClean="0"/>
              <a:t>‹#›</a:t>
            </a:fld>
            <a:endParaRPr lang="en-IN"/>
          </a:p>
        </p:txBody>
      </p:sp>
    </p:spTree>
    <p:extLst>
      <p:ext uri="{BB962C8B-B14F-4D97-AF65-F5344CB8AC3E}">
        <p14:creationId xmlns:p14="http://schemas.microsoft.com/office/powerpoint/2010/main" val="676500477"/>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a:t>Title of the Project</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C023C4-7BB1-4114-BA21-980A47861167}" type="datetimeFigureOut">
              <a:rPr lang="en-IN" smtClean="0"/>
              <a:pPr/>
              <a:t>12-10-2024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5FC1D9-5BD0-4DE7-BF48-AD1B2C032B8C}" type="slidenum">
              <a:rPr lang="en-IN" smtClean="0"/>
              <a:pPr/>
              <a:t>‹#›</a:t>
            </a:fld>
            <a:endParaRPr lang="en-IN"/>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AEC444-603B-4F09-9A06-5917518DD901}" type="slidenum">
              <a:rPr lang="en-US" smtClean="0"/>
              <a:pPr/>
              <a:t>2</a:t>
            </a:fld>
            <a:endParaRPr lang="en-US"/>
          </a:p>
        </p:txBody>
      </p:sp>
      <p:sp>
        <p:nvSpPr>
          <p:cNvPr id="5" name="Header Placeholder 4">
            <a:extLst>
              <a:ext uri="{FF2B5EF4-FFF2-40B4-BE49-F238E27FC236}">
                <a16:creationId xmlns:a16="http://schemas.microsoft.com/office/drawing/2014/main" id="{2573992F-F6DA-3674-BB57-BDA590156E7B}"/>
              </a:ext>
            </a:extLst>
          </p:cNvPr>
          <p:cNvSpPr>
            <a:spLocks noGrp="1"/>
          </p:cNvSpPr>
          <p:nvPr>
            <p:ph type="hdr" sz="quarter"/>
          </p:nvPr>
        </p:nvSpPr>
        <p:spPr/>
        <p:txBody>
          <a:bodyPr/>
          <a:lstStyle/>
          <a:p>
            <a:r>
              <a:rPr lang="en-IN"/>
              <a:t>Title of the Project</a:t>
            </a:r>
          </a:p>
        </p:txBody>
      </p:sp>
    </p:spTree>
    <p:extLst>
      <p:ext uri="{BB962C8B-B14F-4D97-AF65-F5344CB8AC3E}">
        <p14:creationId xmlns:p14="http://schemas.microsoft.com/office/powerpoint/2010/main" val="2777238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0533660-62B5-4736-B1DE-66E37AC81563}" type="datetime1">
              <a:rPr lang="en-IN" smtClean="0"/>
              <a:t>12-10-2024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29B4228-AA12-4196-AEF5-6FECB3000949}" type="datetime1">
              <a:rPr lang="en-IN" smtClean="0"/>
              <a:t>12-10-2024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18A418-B0F2-442C-9F96-347A5FAED8B9}" type="datetime1">
              <a:rPr lang="en-IN" smtClean="0"/>
              <a:t>12-10-2024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A6C454C-21E7-4CA7-9165-B62343ADCAA3}" type="datetime1">
              <a:rPr lang="en-IN" smtClean="0"/>
              <a:t>12-10-2024</a:t>
            </a:fld>
            <a:endParaRPr lang="en-IN"/>
          </a:p>
        </p:txBody>
      </p:sp>
      <p:sp>
        <p:nvSpPr>
          <p:cNvPr id="6" name="Footer Placeholder 5"/>
          <p:cNvSpPr>
            <a:spLocks noGrp="1"/>
          </p:cNvSpPr>
          <p:nvPr>
            <p:ph type="ftr" sz="quarter" idx="11"/>
          </p:nvPr>
        </p:nvSpPr>
        <p:spPr/>
        <p:txBody>
          <a:bodyPr/>
          <a:lstStyle/>
          <a:p>
            <a:r>
              <a:rPr lang="en-IN"/>
              <a:t>AJIET Mangaluru</a:t>
            </a:r>
          </a:p>
        </p:txBody>
      </p:sp>
      <p:sp>
        <p:nvSpPr>
          <p:cNvPr id="7" name="Slide Number Placeholder 6"/>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35A4560-1EC5-478D-8C47-879D22B1EEF8}" type="datetime1">
              <a:rPr lang="en-IN" smtClean="0"/>
              <a:t>12-10-2024</a:t>
            </a:fld>
            <a:endParaRPr lang="en-IN"/>
          </a:p>
        </p:txBody>
      </p:sp>
      <p:sp>
        <p:nvSpPr>
          <p:cNvPr id="8" name="Footer Placeholder 7"/>
          <p:cNvSpPr>
            <a:spLocks noGrp="1"/>
          </p:cNvSpPr>
          <p:nvPr>
            <p:ph type="ftr" sz="quarter" idx="11"/>
          </p:nvPr>
        </p:nvSpPr>
        <p:spPr/>
        <p:txBody>
          <a:bodyPr/>
          <a:lstStyle/>
          <a:p>
            <a:r>
              <a:rPr lang="en-IN"/>
              <a:t>AJIET Mangaluru</a:t>
            </a:r>
          </a:p>
        </p:txBody>
      </p:sp>
      <p:sp>
        <p:nvSpPr>
          <p:cNvPr id="9" name="Slide Number Placeholder 8"/>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64891EA-E25A-4F95-9FFE-DFC104E4BA1D}" type="datetime1">
              <a:rPr lang="en-IN" smtClean="0"/>
              <a:t>12-10-2024</a:t>
            </a:fld>
            <a:endParaRPr lang="en-IN"/>
          </a:p>
        </p:txBody>
      </p:sp>
      <p:sp>
        <p:nvSpPr>
          <p:cNvPr id="4" name="Footer Placeholder 3"/>
          <p:cNvSpPr>
            <a:spLocks noGrp="1"/>
          </p:cNvSpPr>
          <p:nvPr>
            <p:ph type="ftr" sz="quarter" idx="11"/>
          </p:nvPr>
        </p:nvSpPr>
        <p:spPr/>
        <p:txBody>
          <a:bodyPr/>
          <a:lstStyle/>
          <a:p>
            <a:r>
              <a:rPr lang="en-IN"/>
              <a:t>AJIET Mangaluru</a:t>
            </a:r>
          </a:p>
        </p:txBody>
      </p:sp>
      <p:sp>
        <p:nvSpPr>
          <p:cNvPr id="5" name="Slide Number Placeholder 4"/>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BE9953-3DFA-42FF-AFBE-054B72091E51}" type="datetime1">
              <a:rPr lang="en-IN" smtClean="0"/>
              <a:t>12-10-2024</a:t>
            </a:fld>
            <a:endParaRPr lang="en-IN"/>
          </a:p>
        </p:txBody>
      </p:sp>
      <p:sp>
        <p:nvSpPr>
          <p:cNvPr id="3" name="Footer Placeholder 2"/>
          <p:cNvSpPr>
            <a:spLocks noGrp="1"/>
          </p:cNvSpPr>
          <p:nvPr>
            <p:ph type="ftr" sz="quarter" idx="11"/>
          </p:nvPr>
        </p:nvSpPr>
        <p:spPr/>
        <p:txBody>
          <a:bodyPr/>
          <a:lstStyle/>
          <a:p>
            <a:r>
              <a:rPr lang="en-IN"/>
              <a:t>AJIET Mangaluru</a:t>
            </a:r>
          </a:p>
        </p:txBody>
      </p:sp>
      <p:sp>
        <p:nvSpPr>
          <p:cNvPr id="4" name="Slide Number Placeholder 3"/>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A2D1A1-B90E-4727-9A10-8E684D248352}" type="datetime1">
              <a:rPr lang="en-IN" smtClean="0"/>
              <a:t>12-10-2024</a:t>
            </a:fld>
            <a:endParaRPr lang="en-IN"/>
          </a:p>
        </p:txBody>
      </p:sp>
      <p:sp>
        <p:nvSpPr>
          <p:cNvPr id="6" name="Footer Placeholder 5"/>
          <p:cNvSpPr>
            <a:spLocks noGrp="1"/>
          </p:cNvSpPr>
          <p:nvPr>
            <p:ph type="ftr" sz="quarter" idx="11"/>
          </p:nvPr>
        </p:nvSpPr>
        <p:spPr/>
        <p:txBody>
          <a:bodyPr/>
          <a:lstStyle/>
          <a:p>
            <a:r>
              <a:rPr lang="en-IN"/>
              <a:t>AJIET Mangaluru</a:t>
            </a:r>
          </a:p>
        </p:txBody>
      </p:sp>
      <p:sp>
        <p:nvSpPr>
          <p:cNvPr id="7" name="Slide Number Placeholder 6"/>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89F697-CA0B-4B1B-AE47-41928510556B}" type="datetime1">
              <a:rPr lang="en-IN" smtClean="0"/>
              <a:t>12-10-2024</a:t>
            </a:fld>
            <a:endParaRPr lang="en-IN"/>
          </a:p>
        </p:txBody>
      </p:sp>
      <p:sp>
        <p:nvSpPr>
          <p:cNvPr id="6" name="Footer Placeholder 5"/>
          <p:cNvSpPr>
            <a:spLocks noGrp="1"/>
          </p:cNvSpPr>
          <p:nvPr>
            <p:ph type="ftr" sz="quarter" idx="11"/>
          </p:nvPr>
        </p:nvSpPr>
        <p:spPr/>
        <p:txBody>
          <a:bodyPr/>
          <a:lstStyle/>
          <a:p>
            <a:r>
              <a:rPr lang="en-IN"/>
              <a:t>AJIET Mangaluru</a:t>
            </a:r>
          </a:p>
        </p:txBody>
      </p:sp>
      <p:sp>
        <p:nvSpPr>
          <p:cNvPr id="7" name="Slide Number Placeholder 6"/>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49BD63-B405-418A-8711-D2F9F217DD21}" type="datetime1">
              <a:rPr lang="en-IN" smtClean="0"/>
              <a:t>12-10-2024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D481629-B283-4E04-9A84-2D4A526D9ED6}" type="datetime1">
              <a:rPr lang="en-IN" smtClean="0"/>
              <a:t>12-10-2024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71463B-4783-470D-8BFB-BDA6CFFB6515}" type="datetime1">
              <a:rPr lang="en-IN" smtClean="0"/>
              <a:t>12-10-2024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AJIET Mangaluru</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0A3A97-690C-481D-B0C5-B7E8478245E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557483"/>
            <a:ext cx="8610600" cy="1227417"/>
          </a:xfrm>
        </p:spPr>
        <p:txBody>
          <a:bodyPr>
            <a:normAutofit/>
          </a:bodyPr>
          <a:lstStyle/>
          <a:p>
            <a:r>
              <a:rPr lang="en-US" sz="3200" b="1" dirty="0"/>
              <a:t>“</a:t>
            </a:r>
            <a:r>
              <a:rPr lang="en-IN" sz="3200" b="1" dirty="0">
                <a:effectLst/>
                <a:latin typeface="Times New Roman" panose="02020603050405020304" pitchFamily="18" charset="0"/>
                <a:ea typeface="Bookman Old Style" panose="02050604050505020204" pitchFamily="18" charset="0"/>
              </a:rPr>
              <a:t>Sepsis Detection via Wireless Sensors and ML</a:t>
            </a:r>
            <a:r>
              <a:rPr lang="en-US" sz="3200" b="1" dirty="0"/>
              <a:t>”</a:t>
            </a:r>
            <a:endParaRPr lang="en-IN" sz="3200" dirty="0"/>
          </a:p>
        </p:txBody>
      </p:sp>
      <p:sp>
        <p:nvSpPr>
          <p:cNvPr id="3" name="Subtitle 2"/>
          <p:cNvSpPr>
            <a:spLocks noGrp="1"/>
          </p:cNvSpPr>
          <p:nvPr>
            <p:ph type="subTitle" idx="1"/>
          </p:nvPr>
        </p:nvSpPr>
        <p:spPr>
          <a:xfrm>
            <a:off x="609600" y="3124200"/>
            <a:ext cx="7895734" cy="3200400"/>
          </a:xfrm>
        </p:spPr>
        <p:txBody>
          <a:bodyPr>
            <a:normAutofit fontScale="85000" lnSpcReduction="20000"/>
          </a:bodyPr>
          <a:lstStyle/>
          <a:p>
            <a:r>
              <a:rPr lang="en-US" sz="2000" dirty="0">
                <a:solidFill>
                  <a:schemeClr val="tx1"/>
                </a:solidFill>
              </a:rPr>
              <a:t>Submitted by</a:t>
            </a:r>
            <a:endParaRPr lang="en-IN" sz="2000" dirty="0">
              <a:solidFill>
                <a:schemeClr val="tx1"/>
              </a:solidFill>
            </a:endParaRPr>
          </a:p>
          <a:p>
            <a:pPr algn="l">
              <a:spcBef>
                <a:spcPts val="600"/>
              </a:spcBef>
              <a:spcAft>
                <a:spcPts val="600"/>
              </a:spcAft>
              <a:tabLst>
                <a:tab pos="551815" algn="l"/>
                <a:tab pos="3420110" algn="ctr"/>
              </a:tabLst>
            </a:pP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9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Akash K P </a:t>
            </a: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4JK22ECOO2</a:t>
            </a:r>
          </a:p>
          <a:p>
            <a:pPr algn="l">
              <a:spcBef>
                <a:spcPts val="600"/>
              </a:spcBef>
              <a:spcAft>
                <a:spcPts val="600"/>
              </a:spcAft>
              <a:tabLst>
                <a:tab pos="551815" algn="l"/>
                <a:tab pos="3420110" algn="ctr"/>
              </a:tabLst>
            </a:pP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9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Abhishek M V </a:t>
            </a: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4JK22EC001</a:t>
            </a:r>
          </a:p>
          <a:p>
            <a:pPr algn="l">
              <a:spcBef>
                <a:spcPts val="600"/>
              </a:spcBef>
              <a:spcAft>
                <a:spcPts val="600"/>
              </a:spcAft>
              <a:tabLst>
                <a:tab pos="551815" algn="l"/>
                <a:tab pos="3420110" algn="ctr"/>
              </a:tabLst>
            </a:pPr>
            <a:r>
              <a:rPr lang="en-US" sz="19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Ankitha K V </a:t>
            </a: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4JK22EC006</a:t>
            </a:r>
          </a:p>
          <a:p>
            <a:pPr algn="l">
              <a:spcBef>
                <a:spcPts val="600"/>
              </a:spcBef>
              <a:spcAft>
                <a:spcPts val="600"/>
              </a:spcAft>
              <a:tabLst>
                <a:tab pos="551815" algn="l"/>
                <a:tab pos="3420110" algn="ctr"/>
              </a:tabLst>
            </a:pP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900" b="1" dirty="0" err="1">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Anjelo</a:t>
            </a:r>
            <a:r>
              <a:rPr lang="en-US" sz="19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Gig</a:t>
            </a: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i  4JK22EC004</a:t>
            </a:r>
          </a:p>
          <a:p>
            <a:r>
              <a:rPr lang="en-US" sz="2000" dirty="0">
                <a:solidFill>
                  <a:schemeClr val="tx1"/>
                </a:solidFill>
              </a:rPr>
              <a:t>VII SEM E &amp; C</a:t>
            </a:r>
            <a:endParaRPr lang="en-US" sz="2000" dirty="0">
              <a:solidFill>
                <a:srgbClr val="000000"/>
              </a:solidFill>
              <a:ea typeface="Calibri"/>
            </a:endParaRPr>
          </a:p>
          <a:p>
            <a:endParaRPr lang="en-US" sz="2000" dirty="0">
              <a:solidFill>
                <a:srgbClr val="000000"/>
              </a:solidFill>
              <a:ea typeface="Calibri"/>
            </a:endParaRPr>
          </a:p>
          <a:p>
            <a:r>
              <a:rPr lang="en-US" sz="2000" dirty="0">
                <a:solidFill>
                  <a:srgbClr val="000000"/>
                </a:solidFill>
                <a:ea typeface="Calibri"/>
              </a:rPr>
              <a:t>Under the Guidance of</a:t>
            </a:r>
            <a:endParaRPr lang="en-IN" sz="2000" dirty="0">
              <a:solidFill>
                <a:srgbClr val="000000"/>
              </a:solidFill>
              <a:ea typeface="Calibri"/>
            </a:endParaRPr>
          </a:p>
          <a:p>
            <a:r>
              <a:rPr lang="en-IN" sz="1900" b="1" dirty="0">
                <a:solidFill>
                  <a:srgbClr val="000000"/>
                </a:solidFill>
                <a:effectLst/>
                <a:latin typeface="Times New Roman" panose="02020603050405020304" pitchFamily="18" charset="0"/>
                <a:ea typeface="Bookman Old Style" panose="02050604050505020204" pitchFamily="18" charset="0"/>
              </a:rPr>
              <a:t>Mr. </a:t>
            </a:r>
            <a:r>
              <a:rPr lang="en-IN" sz="1900" b="1" dirty="0" err="1">
                <a:solidFill>
                  <a:srgbClr val="000000"/>
                </a:solidFill>
                <a:effectLst/>
                <a:latin typeface="Times New Roman" panose="02020603050405020304" pitchFamily="18" charset="0"/>
                <a:ea typeface="Bookman Old Style" panose="02050604050505020204" pitchFamily="18" charset="0"/>
              </a:rPr>
              <a:t>Suhandas</a:t>
            </a:r>
            <a:r>
              <a:rPr lang="en-IN" sz="1900" b="1" dirty="0">
                <a:solidFill>
                  <a:srgbClr val="000000"/>
                </a:solidFill>
                <a:effectLst/>
                <a:latin typeface="Times New Roman" panose="02020603050405020304" pitchFamily="18" charset="0"/>
                <a:ea typeface="Bookman Old Style" panose="02050604050505020204" pitchFamily="18" charset="0"/>
              </a:rPr>
              <a:t> </a:t>
            </a:r>
            <a:endParaRPr lang="en-IN" sz="1900" dirty="0">
              <a:solidFill>
                <a:srgbClr val="000000"/>
              </a:solidFill>
              <a:ea typeface="Calibri"/>
            </a:endParaRPr>
          </a:p>
          <a:p>
            <a:r>
              <a:rPr lang="en-US" sz="1900" dirty="0">
                <a:solidFill>
                  <a:schemeClr val="tx1"/>
                </a:solidFill>
              </a:rPr>
              <a:t>Asst. Prof., Dept. of ECE</a:t>
            </a:r>
            <a:endParaRPr lang="en-IN" sz="1900" dirty="0">
              <a:solidFill>
                <a:schemeClr val="tx1"/>
              </a:solidFill>
              <a:ea typeface="Calibri"/>
            </a:endParaRPr>
          </a:p>
          <a:p>
            <a:endParaRPr lang="en-IN" sz="1800" dirty="0">
              <a:solidFill>
                <a:schemeClr val="tx1"/>
              </a:solidFill>
            </a:endParaRPr>
          </a:p>
          <a:p>
            <a:endParaRPr lang="en-US" dirty="0"/>
          </a:p>
        </p:txBody>
      </p:sp>
      <p:sp>
        <p:nvSpPr>
          <p:cNvPr id="7" name="Rectangle 6"/>
          <p:cNvSpPr/>
          <p:nvPr/>
        </p:nvSpPr>
        <p:spPr>
          <a:xfrm>
            <a:off x="167481" y="4267200"/>
            <a:ext cx="4572000" cy="677108"/>
          </a:xfrm>
          <a:prstGeom prst="rect">
            <a:avLst/>
          </a:prstGeom>
        </p:spPr>
        <p:txBody>
          <a:bodyPr wrap="square">
            <a:spAutoFit/>
          </a:bodyPr>
          <a:lstStyle/>
          <a:p>
            <a:endParaRPr lang="en-US" dirty="0">
              <a:solidFill>
                <a:srgbClr val="000000"/>
              </a:solidFill>
              <a:ea typeface="Calibri"/>
            </a:endParaRPr>
          </a:p>
          <a:p>
            <a:r>
              <a:rPr lang="en-US" sz="2000" dirty="0">
                <a:solidFill>
                  <a:srgbClr val="000000"/>
                </a:solidFill>
                <a:latin typeface="Times New Roman"/>
                <a:ea typeface="Calibri"/>
              </a:rPr>
              <a:t> </a:t>
            </a:r>
            <a:endParaRPr lang="en-IN" sz="2000" dirty="0">
              <a:solidFill>
                <a:srgbClr val="000000"/>
              </a:solidFill>
              <a:latin typeface="Times New Roman"/>
              <a:ea typeface="Calibri"/>
            </a:endParaRPr>
          </a:p>
        </p:txBody>
      </p:sp>
      <p:pic>
        <p:nvPicPr>
          <p:cNvPr id="4" name="Picture 3">
            <a:extLst>
              <a:ext uri="{FF2B5EF4-FFF2-40B4-BE49-F238E27FC236}">
                <a16:creationId xmlns:a16="http://schemas.microsoft.com/office/drawing/2014/main" id="{4C79C0A6-31A3-5F16-F61B-BBBB897AC77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94126"/>
            <a:ext cx="5905500" cy="1095375"/>
          </a:xfrm>
          <a:prstGeom prst="rect">
            <a:avLst/>
          </a:prstGeom>
          <a:noFill/>
          <a:ln>
            <a:noFill/>
          </a:ln>
        </p:spPr>
      </p:pic>
      <p:pic>
        <p:nvPicPr>
          <p:cNvPr id="8" name="Picture 7">
            <a:extLst>
              <a:ext uri="{FF2B5EF4-FFF2-40B4-BE49-F238E27FC236}">
                <a16:creationId xmlns:a16="http://schemas.microsoft.com/office/drawing/2014/main" id="{8401F61F-04DC-5A83-7F7B-DE45E12049E5}"/>
              </a:ext>
            </a:extLst>
          </p:cNvPr>
          <p:cNvPicPr>
            <a:picLocks noChangeAspect="1"/>
          </p:cNvPicPr>
          <p:nvPr/>
        </p:nvPicPr>
        <p:blipFill>
          <a:blip r:embed="rId3"/>
          <a:stretch>
            <a:fillRect/>
          </a:stretch>
        </p:blipFill>
        <p:spPr>
          <a:xfrm>
            <a:off x="7458075" y="280121"/>
            <a:ext cx="1228725" cy="1181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45225"/>
          </a:xfrm>
        </p:spPr>
        <p:txBody>
          <a:bodyPr/>
          <a:lstStyle/>
          <a:p>
            <a:r>
              <a:rPr lang="en-US" dirty="0"/>
              <a:t>Contents</a:t>
            </a:r>
          </a:p>
        </p:txBody>
      </p:sp>
      <p:sp>
        <p:nvSpPr>
          <p:cNvPr id="3" name="Content Placeholder 2"/>
          <p:cNvSpPr>
            <a:spLocks noGrp="1"/>
          </p:cNvSpPr>
          <p:nvPr>
            <p:ph idx="1"/>
          </p:nvPr>
        </p:nvSpPr>
        <p:spPr>
          <a:xfrm>
            <a:off x="628650" y="1510350"/>
            <a:ext cx="7886700" cy="4666613"/>
          </a:xfrm>
        </p:spPr>
        <p:txBody>
          <a:bodyPr>
            <a:normAutofit/>
          </a:bodyPr>
          <a:lstStyle/>
          <a:p>
            <a:r>
              <a:rPr lang="en-US" sz="2500" dirty="0"/>
              <a:t>Introduction</a:t>
            </a:r>
          </a:p>
          <a:p>
            <a:r>
              <a:rPr lang="en-US" sz="2500" dirty="0"/>
              <a:t>Literature Survey</a:t>
            </a:r>
          </a:p>
          <a:p>
            <a:r>
              <a:rPr lang="en-US" sz="2500" dirty="0"/>
              <a:t>Objectives</a:t>
            </a:r>
          </a:p>
          <a:p>
            <a:r>
              <a:rPr lang="en-US" sz="2500" dirty="0"/>
              <a:t>Problem statement</a:t>
            </a:r>
          </a:p>
          <a:p>
            <a:r>
              <a:rPr lang="en-IN" sz="2400" dirty="0"/>
              <a:t>Methodology</a:t>
            </a:r>
          </a:p>
          <a:p>
            <a:r>
              <a:rPr lang="en-IN" sz="2400" dirty="0"/>
              <a:t>Expected outcome</a:t>
            </a:r>
            <a:endParaRPr lang="en-US" sz="2400" dirty="0"/>
          </a:p>
          <a:p>
            <a:r>
              <a:rPr lang="en-US" sz="2500" dirty="0"/>
              <a:t>Conclusion	</a:t>
            </a:r>
          </a:p>
          <a:p>
            <a:r>
              <a:rPr lang="en-US" sz="2500" dirty="0"/>
              <a:t>References</a:t>
            </a:r>
          </a:p>
          <a:p>
            <a:endParaRPr lang="en-US" dirty="0"/>
          </a:p>
          <a:p>
            <a:endParaRPr lang="en-US" dirty="0"/>
          </a:p>
          <a:p>
            <a:pPr marL="0" indent="0">
              <a:buNone/>
            </a:pPr>
            <a:endParaRPr lang="en-US"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C630F91D-293D-464F-93E1-26EDB181880D}" type="datetime1">
              <a:rPr lang="en-IN" smtClean="0"/>
              <a:t>12-10-2024</a:t>
            </a:fld>
            <a:endParaRPr lang="en-IN" dirty="0"/>
          </a:p>
        </p:txBody>
      </p:sp>
      <p:sp>
        <p:nvSpPr>
          <p:cNvPr id="8" name="Slide Number Placeholder 7"/>
          <p:cNvSpPr>
            <a:spLocks noGrp="1"/>
          </p:cNvSpPr>
          <p:nvPr>
            <p:ph type="sldNum" sz="quarter" idx="12"/>
          </p:nvPr>
        </p:nvSpPr>
        <p:spPr/>
        <p:txBody>
          <a:bodyPr/>
          <a:lstStyle/>
          <a:p>
            <a:fld id="{B00A3A97-690C-481D-B0C5-B7E8478245ED}" type="slidenum">
              <a:rPr lang="en-IN" smtClean="0"/>
              <a:pPr/>
              <a:t>2</a:t>
            </a:fld>
            <a:endParaRPr lang="en-IN" dirty="0"/>
          </a:p>
        </p:txBody>
      </p:sp>
    </p:spTree>
    <p:extLst>
      <p:ext uri="{BB962C8B-B14F-4D97-AF65-F5344CB8AC3E}">
        <p14:creationId xmlns:p14="http://schemas.microsoft.com/office/powerpoint/2010/main" val="682195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30252"/>
          </a:xfrm>
        </p:spPr>
        <p:txBody>
          <a:bodyPr>
            <a:normAutofit fontScale="90000"/>
          </a:bodyPr>
          <a:lstStyle/>
          <a:p>
            <a:r>
              <a:rPr lang="en-US" dirty="0"/>
              <a:t>Introduction</a:t>
            </a:r>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94FBF344-D7D8-4C88-B924-6A929C4EE854}" type="datetime1">
              <a:rPr lang="en-IN" smtClean="0"/>
              <a:t>12-10-2024</a:t>
            </a:fld>
            <a:endParaRPr lang="en-IN" dirty="0"/>
          </a:p>
        </p:txBody>
      </p:sp>
      <p:sp>
        <p:nvSpPr>
          <p:cNvPr id="8" name="Slide Number Placeholder 7"/>
          <p:cNvSpPr>
            <a:spLocks noGrp="1"/>
          </p:cNvSpPr>
          <p:nvPr>
            <p:ph type="sldNum" sz="quarter" idx="12"/>
          </p:nvPr>
        </p:nvSpPr>
        <p:spPr/>
        <p:txBody>
          <a:bodyPr/>
          <a:lstStyle/>
          <a:p>
            <a:fld id="{B00A3A97-690C-481D-B0C5-B7E8478245ED}" type="slidenum">
              <a:rPr lang="en-IN" smtClean="0"/>
              <a:pPr/>
              <a:t>3</a:t>
            </a:fld>
            <a:endParaRPr lang="en-IN"/>
          </a:p>
        </p:txBody>
      </p:sp>
      <p:sp>
        <p:nvSpPr>
          <p:cNvPr id="4" name="Rectangle 1">
            <a:extLst>
              <a:ext uri="{FF2B5EF4-FFF2-40B4-BE49-F238E27FC236}">
                <a16:creationId xmlns:a16="http://schemas.microsoft.com/office/drawing/2014/main" id="{91491BF3-31CF-7D59-5442-4784516B2278}"/>
              </a:ext>
            </a:extLst>
          </p:cNvPr>
          <p:cNvSpPr>
            <a:spLocks noGrp="1" noChangeArrowheads="1"/>
          </p:cNvSpPr>
          <p:nvPr>
            <p:ph idx="1"/>
          </p:nvPr>
        </p:nvSpPr>
        <p:spPr bwMode="auto">
          <a:xfrm>
            <a:off x="457200" y="1004890"/>
            <a:ext cx="8229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Sepsis is a life-threatening condition caused by the body’s extreme response to infection, resulting in tissue damage and organ failure.</a:t>
            </a:r>
          </a:p>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Early prediction of sepsis is critical for improving patient outcomes and reducing mortality rates.</a:t>
            </a:r>
          </a:p>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According to the World Health Organization, sepsis affects millions globally and accounts for approximately 20% of deaths in hospitals, making it a leading cause of mortality in Intensive Care Units.</a:t>
            </a:r>
          </a:p>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Our project aims to develop a predictive model for early sepsis detection using machine learning techniques.</a:t>
            </a:r>
          </a:p>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By enabling healthcare providers to identify at-risk patients quickly, we hope to enhance treatment effectiveness and ultimately save lives.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Survey</a:t>
            </a:r>
            <a:endParaRPr lang="en-IN" dirty="0"/>
          </a:p>
        </p:txBody>
      </p:sp>
      <p:sp>
        <p:nvSpPr>
          <p:cNvPr id="3" name="Content Placeholder 2"/>
          <p:cNvSpPr>
            <a:spLocks noGrp="1"/>
          </p:cNvSpPr>
          <p:nvPr>
            <p:ph idx="1"/>
          </p:nvPr>
        </p:nvSpPr>
        <p:spPr>
          <a:xfrm>
            <a:off x="381000" y="1600200"/>
            <a:ext cx="8458200" cy="4648200"/>
          </a:xfrm>
        </p:spPr>
        <p:txBody>
          <a:bodyPr>
            <a:normAutofit fontScale="77500" lnSpcReduction="20000"/>
          </a:bodyPr>
          <a:lstStyle/>
          <a:p>
            <a:pPr algn="just"/>
            <a:r>
              <a:rPr lang="en-US" dirty="0"/>
              <a:t>M. </a:t>
            </a:r>
            <a:r>
              <a:rPr lang="en-US" dirty="0" err="1"/>
              <a:t>Thaduri</a:t>
            </a:r>
            <a:r>
              <a:rPr lang="en-US" dirty="0"/>
              <a:t> et.al (2005) [1]</a:t>
            </a:r>
            <a:r>
              <a:rPr lang="en-IN" dirty="0"/>
              <a:t>, “</a:t>
            </a:r>
            <a:r>
              <a:rPr lang="en-US" dirty="0"/>
              <a:t>An efficient VLSI implementation of IDEA encryption algorithm using VHDL”</a:t>
            </a:r>
            <a:r>
              <a:rPr lang="en-IN" dirty="0"/>
              <a:t>, </a:t>
            </a:r>
            <a:r>
              <a:rPr lang="en-US" dirty="0"/>
              <a:t>Microprocessors and Microsystems, ELSEVIER , presents </a:t>
            </a:r>
            <a:r>
              <a:rPr lang="en-IN" dirty="0"/>
              <a:t>VLSI implementation of the IDEA block cipher using VHDL using AMI 0.5 process technology standard cells. </a:t>
            </a:r>
          </a:p>
          <a:p>
            <a:pPr algn="just"/>
            <a:r>
              <a:rPr lang="en-IN" b="1" u="sng" dirty="0"/>
              <a:t>Author name(year)[Ref.no]”Title”, Journal/conference name, Publisher</a:t>
            </a:r>
            <a:r>
              <a:rPr lang="en-IN" dirty="0"/>
              <a:t> . </a:t>
            </a:r>
          </a:p>
          <a:p>
            <a:pPr algn="just"/>
            <a:r>
              <a:rPr lang="en-IN" dirty="0"/>
              <a:t>Using pipelined design, eight rounds of the algorithm are executed in parallel in a chip. In this implementation, the </a:t>
            </a:r>
            <a:r>
              <a:rPr lang="en-IN" dirty="0" err="1"/>
              <a:t>subkeys</a:t>
            </a:r>
            <a:r>
              <a:rPr lang="en-IN" dirty="0"/>
              <a:t> are generated internally once the original key is fetched.</a:t>
            </a:r>
          </a:p>
          <a:p>
            <a:pPr algn="just"/>
            <a:r>
              <a:rPr lang="en-IN" dirty="0"/>
              <a:t> In this  implementation operating at 10 MHz achieves a throughput of greater than 700 Mbps, which is several times higher than previous implementations</a:t>
            </a:r>
          </a:p>
          <a:p>
            <a:pPr algn="just"/>
            <a:endParaRPr lang="en-IN" dirty="0"/>
          </a:p>
          <a:p>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1404DFA0-AA7B-47C2-A301-68226D1DDD75}" type="datetime1">
              <a:rPr lang="en-IN" smtClean="0"/>
              <a:t>12-10-2024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5698"/>
            <a:ext cx="8229600" cy="853154"/>
          </a:xfrm>
        </p:spPr>
        <p:txBody>
          <a:bodyPr>
            <a:normAutofit/>
          </a:bodyPr>
          <a:lstStyle/>
          <a:p>
            <a:r>
              <a:rPr lang="en-US" dirty="0"/>
              <a:t>Objectives</a:t>
            </a:r>
            <a:endParaRPr lang="en-IN" dirty="0"/>
          </a:p>
        </p:txBody>
      </p:sp>
      <p:sp>
        <p:nvSpPr>
          <p:cNvPr id="3" name="Content Placeholder 2"/>
          <p:cNvSpPr>
            <a:spLocks noGrp="1"/>
          </p:cNvSpPr>
          <p:nvPr>
            <p:ph idx="1"/>
          </p:nvPr>
        </p:nvSpPr>
        <p:spPr>
          <a:xfrm>
            <a:off x="457200" y="958852"/>
            <a:ext cx="8229600" cy="5137149"/>
          </a:xfrm>
        </p:spPr>
        <p:txBody>
          <a:bodyPr>
            <a:normAutofit fontScale="25000" lnSpcReduction="20000"/>
          </a:bodyPr>
          <a:lstStyle/>
          <a:p>
            <a:pPr algn="just"/>
            <a:r>
              <a:rPr lang="en-US" sz="9600" dirty="0"/>
              <a:t>Develop a Random Forest-based machine learning model that integrates patient vital signs, demographic details, and health history to enhance early prediction of sepsis.</a:t>
            </a:r>
          </a:p>
          <a:p>
            <a:pPr algn="just"/>
            <a:r>
              <a:rPr lang="en-US" sz="9600" dirty="0"/>
              <a:t>Implement a hardware model for real-time monitoring of vital signs, ensuring continuous data collection at regular intervals for timely analysis.</a:t>
            </a:r>
          </a:p>
          <a:p>
            <a:pPr algn="just"/>
            <a:r>
              <a:rPr lang="en-US" sz="9600" dirty="0"/>
              <a:t>Enhance data preprocessing techniques to effectively manage missing values and address class imbalances, thereby improving the accuracy and reliability of the Random Forest model.</a:t>
            </a:r>
          </a:p>
          <a:p>
            <a:pPr algn="just"/>
            <a:r>
              <a:rPr lang="en-US" sz="9600" dirty="0"/>
              <a:t>Create a user-friendly interface for healthcare professionals to easily enter patient lab details and other critical information.</a:t>
            </a:r>
          </a:p>
          <a:p>
            <a:pPr algn="just"/>
            <a:r>
              <a:rPr lang="en-US" sz="9600" dirty="0"/>
              <a:t>Provide clear output regarding the patient's risk level for sepsis, indicating whether the patient is at risk, to facilitate timely intervention and improve patient outcomes.</a:t>
            </a:r>
          </a:p>
          <a:p>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5973E60A-3427-49B7-9028-EE010E7F64B3}" type="datetime1">
              <a:rPr lang="en-IN" smtClean="0"/>
              <a:t>12-10-2024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5</a:t>
            </a:fld>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endParaRPr lang="en-IN" dirty="0"/>
          </a:p>
        </p:txBody>
      </p:sp>
      <p:sp>
        <p:nvSpPr>
          <p:cNvPr id="3" name="Content Placeholder 2"/>
          <p:cNvSpPr>
            <a:spLocks noGrp="1"/>
          </p:cNvSpPr>
          <p:nvPr>
            <p:ph idx="1"/>
          </p:nvPr>
        </p:nvSpPr>
        <p:spPr>
          <a:xfrm>
            <a:off x="457200" y="1600201"/>
            <a:ext cx="8229600" cy="4419600"/>
          </a:xfrm>
        </p:spPr>
        <p:txBody>
          <a:bodyPr>
            <a:normAutofit fontScale="92500" lnSpcReduction="20000"/>
          </a:bodyPr>
          <a:lstStyle/>
          <a:p>
            <a:pPr algn="just"/>
            <a:r>
              <a:rPr lang="en-US" sz="2800" dirty="0"/>
              <a:t>To develop a real-time hardware system that continuously collects and monitors patients' vital signs, integrating a Random Forest machine learning model for accurate sepsis prediction. This project aims to optimize data transmission from the ESP32 to a web server, ensuring efficient processing and real-time.</a:t>
            </a:r>
          </a:p>
          <a:p>
            <a:pPr algn="just"/>
            <a:r>
              <a:rPr lang="en-US" sz="2800" dirty="0"/>
              <a:t>Additionally, it seeks to create a user-friendly interface for healthcare professionals to enter patient data, facilitating timely interventions. The project will focus on enhancing the reliability and accuracy of predictions while addressing challenges related to data management and communication in a healthcare environment.</a:t>
            </a:r>
          </a:p>
          <a:p>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6AC6C293-0697-4692-B371-E65A3BA9B946}" type="datetime1">
              <a:rPr lang="en-IN" smtClean="0"/>
              <a:t>12-10-2024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F2F38-93DC-CAB2-1993-12ABDBE05FD7}"/>
              </a:ext>
            </a:extLst>
          </p:cNvPr>
          <p:cNvSpPr>
            <a:spLocks noGrp="1"/>
          </p:cNvSpPr>
          <p:nvPr>
            <p:ph type="title"/>
          </p:nvPr>
        </p:nvSpPr>
        <p:spPr>
          <a:xfrm>
            <a:off x="457200" y="82001"/>
            <a:ext cx="8229600" cy="1143000"/>
          </a:xfrm>
        </p:spPr>
        <p:txBody>
          <a:bodyPr/>
          <a:lstStyle/>
          <a:p>
            <a:r>
              <a:rPr lang="en-US" dirty="0"/>
              <a:t>Methodology</a:t>
            </a:r>
            <a:endParaRPr lang="en-IN" dirty="0"/>
          </a:p>
        </p:txBody>
      </p:sp>
      <p:sp>
        <p:nvSpPr>
          <p:cNvPr id="4" name="Date Placeholder 3">
            <a:extLst>
              <a:ext uri="{FF2B5EF4-FFF2-40B4-BE49-F238E27FC236}">
                <a16:creationId xmlns:a16="http://schemas.microsoft.com/office/drawing/2014/main" id="{EBB50279-5D0F-1F9C-0A5D-2D9FC8327B62}"/>
              </a:ext>
            </a:extLst>
          </p:cNvPr>
          <p:cNvSpPr>
            <a:spLocks noGrp="1"/>
          </p:cNvSpPr>
          <p:nvPr>
            <p:ph type="dt" sz="half" idx="10"/>
          </p:nvPr>
        </p:nvSpPr>
        <p:spPr/>
        <p:txBody>
          <a:bodyPr/>
          <a:lstStyle/>
          <a:p>
            <a:fld id="{829B4228-AA12-4196-AEF5-6FECB3000949}" type="datetime1">
              <a:rPr lang="en-IN" smtClean="0"/>
              <a:t>12-10-2024</a:t>
            </a:fld>
            <a:endParaRPr lang="en-IN"/>
          </a:p>
        </p:txBody>
      </p:sp>
      <p:sp>
        <p:nvSpPr>
          <p:cNvPr id="5" name="Footer Placeholder 4">
            <a:extLst>
              <a:ext uri="{FF2B5EF4-FFF2-40B4-BE49-F238E27FC236}">
                <a16:creationId xmlns:a16="http://schemas.microsoft.com/office/drawing/2014/main" id="{736173C2-7D74-EC08-3284-08CDD95B2B14}"/>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3047F4A3-F2B6-08E2-CD99-4F116F16B9CD}"/>
              </a:ext>
            </a:extLst>
          </p:cNvPr>
          <p:cNvSpPr>
            <a:spLocks noGrp="1"/>
          </p:cNvSpPr>
          <p:nvPr>
            <p:ph type="sldNum" sz="quarter" idx="12"/>
          </p:nvPr>
        </p:nvSpPr>
        <p:spPr/>
        <p:txBody>
          <a:bodyPr/>
          <a:lstStyle/>
          <a:p>
            <a:fld id="{B00A3A97-690C-481D-B0C5-B7E8478245ED}" type="slidenum">
              <a:rPr lang="en-IN" smtClean="0"/>
              <a:pPr/>
              <a:t>7</a:t>
            </a:fld>
            <a:endParaRPr lang="en-IN"/>
          </a:p>
        </p:txBody>
      </p:sp>
      <p:sp>
        <p:nvSpPr>
          <p:cNvPr id="7" name="Rectangle 4">
            <a:extLst>
              <a:ext uri="{FF2B5EF4-FFF2-40B4-BE49-F238E27FC236}">
                <a16:creationId xmlns:a16="http://schemas.microsoft.com/office/drawing/2014/main" id="{E1CCBD95-767D-33D3-B574-E34AB4BDAA1E}"/>
              </a:ext>
            </a:extLst>
          </p:cNvPr>
          <p:cNvSpPr>
            <a:spLocks noChangeArrowheads="1"/>
          </p:cNvSpPr>
          <p:nvPr/>
        </p:nvSpPr>
        <p:spPr bwMode="auto">
          <a:xfrm>
            <a:off x="584739" y="3467876"/>
            <a:ext cx="1602518" cy="985018"/>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Temperature</a:t>
            </a:r>
            <a:endParaRPr kumimoji="0" lang="en-US" altLang="en-US"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ea typeface="Aptos" panose="020B0004020202020204" pitchFamily="34" charset="0"/>
                <a:cs typeface="Times New Roman" panose="02020603050405020304" pitchFamily="18" charset="0"/>
              </a:rPr>
              <a:t>sensor</a:t>
            </a:r>
            <a:endParaRPr kumimoji="0" lang="en-US" altLang="en-US" b="0" i="0" u="none" strike="noStrike" cap="none" normalizeH="0" baseline="0" dirty="0">
              <a:ln>
                <a:noFill/>
              </a:ln>
              <a:solidFill>
                <a:schemeClr val="tx1"/>
              </a:solidFill>
              <a:effectLst/>
            </a:endParaRPr>
          </a:p>
        </p:txBody>
      </p:sp>
      <p:sp>
        <p:nvSpPr>
          <p:cNvPr id="8" name="Rectangle 5">
            <a:extLst>
              <a:ext uri="{FF2B5EF4-FFF2-40B4-BE49-F238E27FC236}">
                <a16:creationId xmlns:a16="http://schemas.microsoft.com/office/drawing/2014/main" id="{7727D901-0558-49D5-39EE-516B1691F22D}"/>
              </a:ext>
            </a:extLst>
          </p:cNvPr>
          <p:cNvSpPr>
            <a:spLocks noChangeArrowheads="1"/>
          </p:cNvSpPr>
          <p:nvPr/>
        </p:nvSpPr>
        <p:spPr bwMode="auto">
          <a:xfrm>
            <a:off x="601756" y="2156563"/>
            <a:ext cx="1424832" cy="1143000"/>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ea typeface="Aptos" panose="020B0004020202020204" pitchFamily="34" charset="0"/>
                <a:cs typeface="Times New Roman" panose="02020603050405020304" pitchFamily="18" charset="0"/>
              </a:rPr>
              <a:t>Heart rate and SpO2 sensor</a:t>
            </a:r>
            <a:endParaRPr kumimoji="0" lang="en-US" altLang="en-US" b="0" i="0" u="none" strike="noStrike" cap="none" normalizeH="0" baseline="0" dirty="0">
              <a:ln>
                <a:noFill/>
              </a:ln>
              <a:solidFill>
                <a:schemeClr val="tx1"/>
              </a:solidFill>
              <a:effectLst/>
            </a:endParaRPr>
          </a:p>
        </p:txBody>
      </p:sp>
      <p:sp>
        <p:nvSpPr>
          <p:cNvPr id="9" name="Rectangle 6">
            <a:extLst>
              <a:ext uri="{FF2B5EF4-FFF2-40B4-BE49-F238E27FC236}">
                <a16:creationId xmlns:a16="http://schemas.microsoft.com/office/drawing/2014/main" id="{EC01103B-15CC-725C-EBB7-EB431534E602}"/>
              </a:ext>
            </a:extLst>
          </p:cNvPr>
          <p:cNvSpPr>
            <a:spLocks noChangeArrowheads="1"/>
          </p:cNvSpPr>
          <p:nvPr/>
        </p:nvSpPr>
        <p:spPr bwMode="auto">
          <a:xfrm>
            <a:off x="2596767" y="2274279"/>
            <a:ext cx="1210956" cy="2050569"/>
          </a:xfrm>
          <a:prstGeom prst="rect">
            <a:avLst/>
          </a:prstGeom>
          <a:solidFill>
            <a:srgbClr val="FFFFFF"/>
          </a:solidFill>
          <a:ln w="12700">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dirty="0">
                <a:latin typeface="Arial" panose="020B0604020202020204" pitchFamily="34" charset="0"/>
              </a:rPr>
              <a:t>ESP32</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4B5F95FA-6F92-1EEC-548C-3723EC32F1B8}"/>
              </a:ext>
            </a:extLst>
          </p:cNvPr>
          <p:cNvSpPr>
            <a:spLocks noChangeArrowheads="1"/>
          </p:cNvSpPr>
          <p:nvPr/>
        </p:nvSpPr>
        <p:spPr bwMode="auto">
          <a:xfrm>
            <a:off x="4333185" y="1328739"/>
            <a:ext cx="4245052" cy="4541836"/>
          </a:xfrm>
          <a:prstGeom prst="rect">
            <a:avLst/>
          </a:prstGeom>
          <a:solidFill>
            <a:srgbClr val="FFFFFF"/>
          </a:solidFill>
          <a:ln w="28575">
            <a:solidFill>
              <a:schemeClr val="tx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Web Server</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F7BFA30C-EB96-10F6-D12F-1E26ADF14878}"/>
              </a:ext>
            </a:extLst>
          </p:cNvPr>
          <p:cNvSpPr>
            <a:spLocks noChangeArrowheads="1"/>
          </p:cNvSpPr>
          <p:nvPr/>
        </p:nvSpPr>
        <p:spPr bwMode="auto">
          <a:xfrm>
            <a:off x="4672177" y="1922710"/>
            <a:ext cx="1698549" cy="1646531"/>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Random Forest Prediction Model</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2" name="Rectangle 6">
            <a:extLst>
              <a:ext uri="{FF2B5EF4-FFF2-40B4-BE49-F238E27FC236}">
                <a16:creationId xmlns:a16="http://schemas.microsoft.com/office/drawing/2014/main" id="{08119B71-357B-0F3C-4CD1-8793F9AAB434}"/>
              </a:ext>
            </a:extLst>
          </p:cNvPr>
          <p:cNvSpPr>
            <a:spLocks noChangeArrowheads="1"/>
          </p:cNvSpPr>
          <p:nvPr/>
        </p:nvSpPr>
        <p:spPr bwMode="auto">
          <a:xfrm>
            <a:off x="6894648" y="1929558"/>
            <a:ext cx="1573300" cy="1704224"/>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Risk Assessment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3" name="Rectangle 5">
            <a:extLst>
              <a:ext uri="{FF2B5EF4-FFF2-40B4-BE49-F238E27FC236}">
                <a16:creationId xmlns:a16="http://schemas.microsoft.com/office/drawing/2014/main" id="{D7792F29-456F-C57B-C1A3-86C534DACB97}"/>
              </a:ext>
            </a:extLst>
          </p:cNvPr>
          <p:cNvSpPr>
            <a:spLocks noChangeArrowheads="1"/>
          </p:cNvSpPr>
          <p:nvPr/>
        </p:nvSpPr>
        <p:spPr bwMode="auto">
          <a:xfrm>
            <a:off x="6964442" y="4324848"/>
            <a:ext cx="1308379" cy="885552"/>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Display Results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A1F25610-C0CE-48B4-8C09-6C7F62AEC6E9}"/>
              </a:ext>
            </a:extLst>
          </p:cNvPr>
          <p:cNvSpPr>
            <a:spLocks noChangeArrowheads="1"/>
          </p:cNvSpPr>
          <p:nvPr/>
        </p:nvSpPr>
        <p:spPr bwMode="auto">
          <a:xfrm>
            <a:off x="2711502" y="3364329"/>
            <a:ext cx="981486" cy="596057"/>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Wi-Fi Module</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82BF44AF-423C-AC43-526C-BACC344862F9}"/>
              </a:ext>
            </a:extLst>
          </p:cNvPr>
          <p:cNvSpPr>
            <a:spLocks noChangeArrowheads="1"/>
          </p:cNvSpPr>
          <p:nvPr/>
        </p:nvSpPr>
        <p:spPr bwMode="auto">
          <a:xfrm>
            <a:off x="4640968" y="3997367"/>
            <a:ext cx="1698549" cy="1565231"/>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Clinical Data Entry Interface</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6" name="Rectangle 10">
            <a:extLst>
              <a:ext uri="{FF2B5EF4-FFF2-40B4-BE49-F238E27FC236}">
                <a16:creationId xmlns:a16="http://schemas.microsoft.com/office/drawing/2014/main" id="{664876DA-18D4-4B86-FF8B-BE7F03CBD454}"/>
              </a:ext>
            </a:extLst>
          </p:cNvPr>
          <p:cNvSpPr>
            <a:spLocks noChangeArrowheads="1"/>
          </p:cNvSpPr>
          <p:nvPr/>
        </p:nvSpPr>
        <p:spPr bwMode="auto">
          <a:xfrm>
            <a:off x="-53975" y="-2458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9" name="Rectangle 18">
            <a:extLst>
              <a:ext uri="{FF2B5EF4-FFF2-40B4-BE49-F238E27FC236}">
                <a16:creationId xmlns:a16="http://schemas.microsoft.com/office/drawing/2014/main" id="{B02FFA63-289E-20F7-3380-DC2A35A8E653}"/>
              </a:ext>
            </a:extLst>
          </p:cNvPr>
          <p:cNvSpPr/>
          <p:nvPr/>
        </p:nvSpPr>
        <p:spPr>
          <a:xfrm>
            <a:off x="457200" y="1298323"/>
            <a:ext cx="3527347" cy="4541836"/>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t"/>
          <a:lstStyle/>
          <a:p>
            <a:pPr algn="ctr"/>
            <a:r>
              <a:rPr lang="en-IN" sz="2000" dirty="0"/>
              <a:t>Hardware setup</a:t>
            </a:r>
          </a:p>
        </p:txBody>
      </p:sp>
      <p:pic>
        <p:nvPicPr>
          <p:cNvPr id="21" name="Graphic 20" descr="Line arrow: Straight with solid fill">
            <a:extLst>
              <a:ext uri="{FF2B5EF4-FFF2-40B4-BE49-F238E27FC236}">
                <a16:creationId xmlns:a16="http://schemas.microsoft.com/office/drawing/2014/main" id="{EC14C4AB-19EB-485D-F525-0EE742CF54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2003936" y="2483124"/>
            <a:ext cx="626383" cy="498016"/>
          </a:xfrm>
          <a:prstGeom prst="rect">
            <a:avLst/>
          </a:prstGeom>
        </p:spPr>
      </p:pic>
      <p:pic>
        <p:nvPicPr>
          <p:cNvPr id="22" name="Graphic 21" descr="Line arrow: Straight with solid fill">
            <a:extLst>
              <a:ext uri="{FF2B5EF4-FFF2-40B4-BE49-F238E27FC236}">
                <a16:creationId xmlns:a16="http://schemas.microsoft.com/office/drawing/2014/main" id="{B6E8437B-A81B-B7FB-DA6B-442E9BBA56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2190647" y="3482624"/>
            <a:ext cx="415940" cy="498016"/>
          </a:xfrm>
          <a:prstGeom prst="rect">
            <a:avLst/>
          </a:prstGeom>
        </p:spPr>
      </p:pic>
      <p:pic>
        <p:nvPicPr>
          <p:cNvPr id="23" name="Graphic 22" descr="Line arrow: Straight with solid fill">
            <a:extLst>
              <a:ext uri="{FF2B5EF4-FFF2-40B4-BE49-F238E27FC236}">
                <a16:creationId xmlns:a16="http://schemas.microsoft.com/office/drawing/2014/main" id="{42BA1A43-37E8-7B77-032E-4C63F27424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3770678" y="2841878"/>
            <a:ext cx="947979" cy="498016"/>
          </a:xfrm>
          <a:prstGeom prst="rect">
            <a:avLst/>
          </a:prstGeom>
        </p:spPr>
      </p:pic>
      <p:pic>
        <p:nvPicPr>
          <p:cNvPr id="24" name="Graphic 23" descr="Line arrow: Straight with solid fill">
            <a:extLst>
              <a:ext uri="{FF2B5EF4-FFF2-40B4-BE49-F238E27FC236}">
                <a16:creationId xmlns:a16="http://schemas.microsoft.com/office/drawing/2014/main" id="{EA3907C9-E628-88A6-B6EA-8AA1B3BEFAD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6345093" y="2630696"/>
            <a:ext cx="556678" cy="498016"/>
          </a:xfrm>
          <a:prstGeom prst="rect">
            <a:avLst/>
          </a:prstGeom>
        </p:spPr>
      </p:pic>
      <p:pic>
        <p:nvPicPr>
          <p:cNvPr id="25" name="Graphic 24" descr="Line arrow: Straight with solid fill">
            <a:extLst>
              <a:ext uri="{FF2B5EF4-FFF2-40B4-BE49-F238E27FC236}">
                <a16:creationId xmlns:a16="http://schemas.microsoft.com/office/drawing/2014/main" id="{A42790AF-F271-7FB7-8062-0F049E6B19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5260838" y="3494538"/>
            <a:ext cx="439144" cy="566520"/>
          </a:xfrm>
          <a:prstGeom prst="rect">
            <a:avLst/>
          </a:prstGeom>
        </p:spPr>
      </p:pic>
      <p:pic>
        <p:nvPicPr>
          <p:cNvPr id="26" name="Graphic 25" descr="Line arrow: Straight with solid fill">
            <a:extLst>
              <a:ext uri="{FF2B5EF4-FFF2-40B4-BE49-F238E27FC236}">
                <a16:creationId xmlns:a16="http://schemas.microsoft.com/office/drawing/2014/main" id="{293427E1-1076-A1ED-298C-09A2163DB43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7297959" y="3733827"/>
            <a:ext cx="672032" cy="453117"/>
          </a:xfrm>
          <a:prstGeom prst="rect">
            <a:avLst/>
          </a:prstGeom>
        </p:spPr>
      </p:pic>
    </p:spTree>
    <p:extLst>
      <p:ext uri="{BB962C8B-B14F-4D97-AF65-F5344CB8AC3E}">
        <p14:creationId xmlns:p14="http://schemas.microsoft.com/office/powerpoint/2010/main" val="3116255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767FA-8C46-6DC4-07A9-329FE16A5B76}"/>
              </a:ext>
            </a:extLst>
          </p:cNvPr>
          <p:cNvSpPr>
            <a:spLocks noGrp="1"/>
          </p:cNvSpPr>
          <p:nvPr>
            <p:ph type="title"/>
          </p:nvPr>
        </p:nvSpPr>
        <p:spPr/>
        <p:txBody>
          <a:bodyPr/>
          <a:lstStyle/>
          <a:p>
            <a:r>
              <a:rPr lang="en-US" dirty="0"/>
              <a:t>Methodology</a:t>
            </a:r>
            <a:endParaRPr lang="en-IN" dirty="0"/>
          </a:p>
        </p:txBody>
      </p:sp>
      <p:sp>
        <p:nvSpPr>
          <p:cNvPr id="4" name="Date Placeholder 3">
            <a:extLst>
              <a:ext uri="{FF2B5EF4-FFF2-40B4-BE49-F238E27FC236}">
                <a16:creationId xmlns:a16="http://schemas.microsoft.com/office/drawing/2014/main" id="{4541C7DD-C246-AF8E-B18E-A86D356113B9}"/>
              </a:ext>
            </a:extLst>
          </p:cNvPr>
          <p:cNvSpPr>
            <a:spLocks noGrp="1"/>
          </p:cNvSpPr>
          <p:nvPr>
            <p:ph type="dt" sz="half" idx="10"/>
          </p:nvPr>
        </p:nvSpPr>
        <p:spPr/>
        <p:txBody>
          <a:bodyPr/>
          <a:lstStyle/>
          <a:p>
            <a:fld id="{829B4228-AA12-4196-AEF5-6FECB3000949}" type="datetime1">
              <a:rPr lang="en-IN" smtClean="0"/>
              <a:t>12-10-2024</a:t>
            </a:fld>
            <a:endParaRPr lang="en-IN"/>
          </a:p>
        </p:txBody>
      </p:sp>
      <p:sp>
        <p:nvSpPr>
          <p:cNvPr id="5" name="Footer Placeholder 4">
            <a:extLst>
              <a:ext uri="{FF2B5EF4-FFF2-40B4-BE49-F238E27FC236}">
                <a16:creationId xmlns:a16="http://schemas.microsoft.com/office/drawing/2014/main" id="{16C45AB4-A272-1670-D0B0-6E0D775E2D13}"/>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61ED82DB-7344-C390-16B6-2DF97FED51BD}"/>
              </a:ext>
            </a:extLst>
          </p:cNvPr>
          <p:cNvSpPr>
            <a:spLocks noGrp="1"/>
          </p:cNvSpPr>
          <p:nvPr>
            <p:ph type="sldNum" sz="quarter" idx="12"/>
          </p:nvPr>
        </p:nvSpPr>
        <p:spPr/>
        <p:txBody>
          <a:bodyPr/>
          <a:lstStyle/>
          <a:p>
            <a:fld id="{B00A3A97-690C-481D-B0C5-B7E8478245ED}" type="slidenum">
              <a:rPr lang="en-IN" smtClean="0"/>
              <a:pPr/>
              <a:t>8</a:t>
            </a:fld>
            <a:endParaRPr lang="en-IN"/>
          </a:p>
        </p:txBody>
      </p:sp>
      <p:sp>
        <p:nvSpPr>
          <p:cNvPr id="9" name="Rectangle 3">
            <a:extLst>
              <a:ext uri="{FF2B5EF4-FFF2-40B4-BE49-F238E27FC236}">
                <a16:creationId xmlns:a16="http://schemas.microsoft.com/office/drawing/2014/main" id="{83CF9FD0-DBE6-2231-EC8F-EB677754011B}"/>
              </a:ext>
            </a:extLst>
          </p:cNvPr>
          <p:cNvSpPr>
            <a:spLocks noGrp="1" noChangeArrowheads="1"/>
          </p:cNvSpPr>
          <p:nvPr>
            <p:ph idx="1"/>
          </p:nvPr>
        </p:nvSpPr>
        <p:spPr bwMode="auto">
          <a:xfrm>
            <a:off x="457200" y="1602304"/>
            <a:ext cx="82296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Sensor Module</a:t>
            </a:r>
            <a:r>
              <a:rPr kumimoji="0" lang="en-US" altLang="en-US" sz="2400" b="0" i="0" u="none" strike="noStrike" cap="none" normalizeH="0" baseline="0" dirty="0">
                <a:ln>
                  <a:noFill/>
                </a:ln>
                <a:solidFill>
                  <a:schemeClr val="tx1"/>
                </a:solidFill>
                <a:effectLst/>
              </a:rPr>
              <a:t>: This module consists of various sensors that continuously monitor vital signs such as heart rate, temperature, blood oxygen levels and respiratory rate. The sensors collect real-time physiological data from the patient’s body.</a:t>
            </a:r>
          </a:p>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ESP32 Microcontroller</a:t>
            </a:r>
            <a:r>
              <a:rPr kumimoji="0" lang="en-US" altLang="en-US" sz="2400" b="0" i="0" u="none" strike="noStrike" cap="none" normalizeH="0" baseline="0" dirty="0">
                <a:ln>
                  <a:noFill/>
                </a:ln>
                <a:solidFill>
                  <a:schemeClr val="tx1"/>
                </a:solidFill>
                <a:effectLst/>
              </a:rPr>
              <a:t>: The ESP32 is a powerful microcontroller with built-in Wi-Fi capabilities. It processes the data received from the sensor module, performs preliminary analysis, and prepares the data for transmission. It also handles communication with the web server.</a:t>
            </a:r>
          </a:p>
        </p:txBody>
      </p:sp>
    </p:spTree>
    <p:extLst>
      <p:ext uri="{BB962C8B-B14F-4D97-AF65-F5344CB8AC3E}">
        <p14:creationId xmlns:p14="http://schemas.microsoft.com/office/powerpoint/2010/main" val="3205148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C47CC8-419D-4468-BC29-655F709844D5}"/>
              </a:ext>
            </a:extLst>
          </p:cNvPr>
          <p:cNvSpPr>
            <a:spLocks noGrp="1"/>
          </p:cNvSpPr>
          <p:nvPr>
            <p:ph type="dt" sz="half" idx="10"/>
          </p:nvPr>
        </p:nvSpPr>
        <p:spPr/>
        <p:txBody>
          <a:bodyPr/>
          <a:lstStyle/>
          <a:p>
            <a:fld id="{829B4228-AA12-4196-AEF5-6FECB3000949}" type="datetime1">
              <a:rPr lang="en-IN" smtClean="0"/>
              <a:t>12-10-2024</a:t>
            </a:fld>
            <a:endParaRPr lang="en-IN"/>
          </a:p>
        </p:txBody>
      </p:sp>
      <p:sp>
        <p:nvSpPr>
          <p:cNvPr id="5" name="Footer Placeholder 4">
            <a:extLst>
              <a:ext uri="{FF2B5EF4-FFF2-40B4-BE49-F238E27FC236}">
                <a16:creationId xmlns:a16="http://schemas.microsoft.com/office/drawing/2014/main" id="{15B28566-1FEF-2DEB-77BA-C94E42DEB1F6}"/>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99E25216-6C32-3CAE-58C4-F6ABD68B4004}"/>
              </a:ext>
            </a:extLst>
          </p:cNvPr>
          <p:cNvSpPr>
            <a:spLocks noGrp="1"/>
          </p:cNvSpPr>
          <p:nvPr>
            <p:ph type="sldNum" sz="quarter" idx="12"/>
          </p:nvPr>
        </p:nvSpPr>
        <p:spPr/>
        <p:txBody>
          <a:bodyPr/>
          <a:lstStyle/>
          <a:p>
            <a:fld id="{B00A3A97-690C-481D-B0C5-B7E8478245ED}" type="slidenum">
              <a:rPr lang="en-IN" smtClean="0"/>
              <a:pPr/>
              <a:t>9</a:t>
            </a:fld>
            <a:endParaRPr lang="en-IN"/>
          </a:p>
        </p:txBody>
      </p:sp>
      <p:sp>
        <p:nvSpPr>
          <p:cNvPr id="7" name="Rectangle 1">
            <a:extLst>
              <a:ext uri="{FF2B5EF4-FFF2-40B4-BE49-F238E27FC236}">
                <a16:creationId xmlns:a16="http://schemas.microsoft.com/office/drawing/2014/main" id="{D8D36414-83DB-1F26-D86E-AAE125C1378E}"/>
              </a:ext>
            </a:extLst>
          </p:cNvPr>
          <p:cNvSpPr>
            <a:spLocks noGrp="1" noChangeArrowheads="1"/>
          </p:cNvSpPr>
          <p:nvPr>
            <p:ph idx="1"/>
          </p:nvPr>
        </p:nvSpPr>
        <p:spPr bwMode="auto">
          <a:xfrm>
            <a:off x="457200" y="310479"/>
            <a:ext cx="822960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Data Transmission Module</a:t>
            </a:r>
            <a:r>
              <a:rPr kumimoji="0" lang="en-US" altLang="en-US" sz="2400" b="0" i="0" u="none" strike="noStrike" cap="none" normalizeH="0" baseline="0" dirty="0">
                <a:ln>
                  <a:noFill/>
                </a:ln>
                <a:solidFill>
                  <a:schemeClr val="tx1"/>
                </a:solidFill>
                <a:effectLst/>
              </a:rPr>
              <a:t>: This component facilitates the transmission of processed data from the ESP32 to the web server. It ensures that the vital signs data is sent over the internet for further processing and analysis, which could involve Wi-Fi based on the setup.</a:t>
            </a:r>
          </a:p>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Web Server</a:t>
            </a:r>
            <a:r>
              <a:rPr kumimoji="0" lang="en-US" altLang="en-US" sz="2400" b="0" i="0" u="none" strike="noStrike" cap="none" normalizeH="0" baseline="0" dirty="0">
                <a:ln>
                  <a:noFill/>
                </a:ln>
                <a:solidFill>
                  <a:schemeClr val="tx1"/>
                </a:solidFill>
                <a:effectLst/>
              </a:rPr>
              <a:t>: A remote server that receives data from the ESP32 and processes it using a machine learning model (Random Forest). The server analyzes the incoming data to predict the risk of sepsis, stores patient information, and provides a platform for clinical experts to access the data.</a:t>
            </a:r>
          </a:p>
          <a:p>
            <a:pPr algn="just" eaLnBrk="0" fontAlgn="base" hangingPunct="0">
              <a:spcBef>
                <a:spcPct val="0"/>
              </a:spcBef>
              <a:spcAft>
                <a:spcPct val="0"/>
              </a:spcAft>
            </a:pPr>
            <a:r>
              <a:rPr lang="en-US" sz="2400" b="1" dirty="0"/>
              <a:t>User Interface for Clinical Experts</a:t>
            </a:r>
            <a:r>
              <a:rPr lang="en-US" sz="2400" dirty="0"/>
              <a:t>: A web-based interface or application that allows healthcare professionals to input additional patient data, such as medical history and lab results. This interface enables clinicians to enter relevant information that enhances the prediction model’s accuracy and helps in monitoring patient conditions effectively.</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866519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5F04DE1-56FD-4CA5-04CD-C6E80A61A0D4}"/>
              </a:ext>
            </a:extLst>
          </p:cNvPr>
          <p:cNvSpPr>
            <a:spLocks noGrp="1"/>
          </p:cNvSpPr>
          <p:nvPr>
            <p:ph type="dt" sz="half" idx="10"/>
          </p:nvPr>
        </p:nvSpPr>
        <p:spPr/>
        <p:txBody>
          <a:bodyPr/>
          <a:lstStyle/>
          <a:p>
            <a:fld id="{829B4228-AA12-4196-AEF5-6FECB3000949}" type="datetime1">
              <a:rPr lang="en-IN" smtClean="0"/>
              <a:t>12-10-2024</a:t>
            </a:fld>
            <a:endParaRPr lang="en-IN"/>
          </a:p>
        </p:txBody>
      </p:sp>
      <p:sp>
        <p:nvSpPr>
          <p:cNvPr id="5" name="Footer Placeholder 4">
            <a:extLst>
              <a:ext uri="{FF2B5EF4-FFF2-40B4-BE49-F238E27FC236}">
                <a16:creationId xmlns:a16="http://schemas.microsoft.com/office/drawing/2014/main" id="{EDEAC812-2D1E-46EF-B882-29A6BA6622D0}"/>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37D26D88-98FE-1E83-E1AD-073A127FC555}"/>
              </a:ext>
            </a:extLst>
          </p:cNvPr>
          <p:cNvSpPr>
            <a:spLocks noGrp="1"/>
          </p:cNvSpPr>
          <p:nvPr>
            <p:ph type="sldNum" sz="quarter" idx="12"/>
          </p:nvPr>
        </p:nvSpPr>
        <p:spPr/>
        <p:txBody>
          <a:bodyPr/>
          <a:lstStyle/>
          <a:p>
            <a:fld id="{B00A3A97-690C-481D-B0C5-B7E8478245ED}" type="slidenum">
              <a:rPr lang="en-IN" smtClean="0"/>
              <a:pPr/>
              <a:t>10</a:t>
            </a:fld>
            <a:endParaRPr lang="en-IN"/>
          </a:p>
        </p:txBody>
      </p:sp>
      <p:sp>
        <p:nvSpPr>
          <p:cNvPr id="7" name="Rectangle 1">
            <a:extLst>
              <a:ext uri="{FF2B5EF4-FFF2-40B4-BE49-F238E27FC236}">
                <a16:creationId xmlns:a16="http://schemas.microsoft.com/office/drawing/2014/main" id="{3D39DBD2-A4E7-E2B7-67DC-86A644627164}"/>
              </a:ext>
            </a:extLst>
          </p:cNvPr>
          <p:cNvSpPr>
            <a:spLocks noGrp="1" noChangeArrowheads="1"/>
          </p:cNvSpPr>
          <p:nvPr>
            <p:ph idx="1"/>
          </p:nvPr>
        </p:nvSpPr>
        <p:spPr bwMode="auto">
          <a:xfrm>
            <a:off x="439479" y="805934"/>
            <a:ext cx="822960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Prediction Model</a:t>
            </a:r>
            <a:r>
              <a:rPr kumimoji="0" lang="en-US" altLang="en-US" sz="2400" b="0" i="0" u="none" strike="noStrike" cap="none" normalizeH="0" baseline="0" dirty="0">
                <a:ln>
                  <a:noFill/>
                </a:ln>
                <a:solidFill>
                  <a:schemeClr val="tx1"/>
                </a:solidFill>
                <a:effectLst/>
              </a:rPr>
              <a:t>: This refers to the machine learning model (Random Forest) used for predicting sepsis risk. The model analyzes the collected data to determine the likelihood of a patient developing sepsis and provides alerts based on predefined risk thresholds.</a:t>
            </a:r>
          </a:p>
          <a:p>
            <a:pPr algn="just" eaLnBrk="0" fontAlgn="base" hangingPunct="0">
              <a:spcBef>
                <a:spcPct val="0"/>
              </a:spcBef>
              <a:spcAft>
                <a:spcPct val="0"/>
              </a:spcAft>
            </a:pPr>
            <a:r>
              <a:rPr lang="en-US" sz="2400" b="1" dirty="0"/>
              <a:t>Risk Display System</a:t>
            </a:r>
            <a:r>
              <a:rPr lang="en-US" sz="2400" dirty="0"/>
              <a:t>: A system to present the prediction results to healthcare providers, indicating whether the patient is at any risk of sepsis. This display facilitates timely medical intervention based on the risk assessment from the prediction model.</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1452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86119-8A5B-C5CF-CA98-2209A2A83AB0}"/>
              </a:ext>
            </a:extLst>
          </p:cNvPr>
          <p:cNvSpPr>
            <a:spLocks noGrp="1"/>
          </p:cNvSpPr>
          <p:nvPr>
            <p:ph type="title"/>
          </p:nvPr>
        </p:nvSpPr>
        <p:spPr/>
        <p:txBody>
          <a:bodyPr/>
          <a:lstStyle/>
          <a:p>
            <a:r>
              <a:rPr lang="en-IN" dirty="0"/>
              <a:t>Expected Outcome</a:t>
            </a:r>
          </a:p>
        </p:txBody>
      </p:sp>
      <p:sp>
        <p:nvSpPr>
          <p:cNvPr id="4" name="Date Placeholder 3">
            <a:extLst>
              <a:ext uri="{FF2B5EF4-FFF2-40B4-BE49-F238E27FC236}">
                <a16:creationId xmlns:a16="http://schemas.microsoft.com/office/drawing/2014/main" id="{68F1A96E-E771-B17C-2EDF-46E66142B58A}"/>
              </a:ext>
            </a:extLst>
          </p:cNvPr>
          <p:cNvSpPr>
            <a:spLocks noGrp="1"/>
          </p:cNvSpPr>
          <p:nvPr>
            <p:ph type="dt" sz="half" idx="10"/>
          </p:nvPr>
        </p:nvSpPr>
        <p:spPr/>
        <p:txBody>
          <a:bodyPr/>
          <a:lstStyle/>
          <a:p>
            <a:fld id="{829B4228-AA12-4196-AEF5-6FECB3000949}" type="datetime1">
              <a:rPr lang="en-IN" smtClean="0"/>
              <a:t>12-10-2024</a:t>
            </a:fld>
            <a:endParaRPr lang="en-IN"/>
          </a:p>
        </p:txBody>
      </p:sp>
      <p:sp>
        <p:nvSpPr>
          <p:cNvPr id="5" name="Footer Placeholder 4">
            <a:extLst>
              <a:ext uri="{FF2B5EF4-FFF2-40B4-BE49-F238E27FC236}">
                <a16:creationId xmlns:a16="http://schemas.microsoft.com/office/drawing/2014/main" id="{C273EB09-09B7-7481-7909-6A6F6D2E4D72}"/>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D0C82D09-518C-D79E-2A2F-328551A5153C}"/>
              </a:ext>
            </a:extLst>
          </p:cNvPr>
          <p:cNvSpPr>
            <a:spLocks noGrp="1"/>
          </p:cNvSpPr>
          <p:nvPr>
            <p:ph type="sldNum" sz="quarter" idx="12"/>
          </p:nvPr>
        </p:nvSpPr>
        <p:spPr/>
        <p:txBody>
          <a:bodyPr/>
          <a:lstStyle/>
          <a:p>
            <a:fld id="{B00A3A97-690C-481D-B0C5-B7E8478245ED}" type="slidenum">
              <a:rPr lang="en-IN" smtClean="0"/>
              <a:pPr/>
              <a:t>11</a:t>
            </a:fld>
            <a:endParaRPr lang="en-IN"/>
          </a:p>
        </p:txBody>
      </p:sp>
      <p:sp>
        <p:nvSpPr>
          <p:cNvPr id="7" name="Rectangle 1">
            <a:extLst>
              <a:ext uri="{FF2B5EF4-FFF2-40B4-BE49-F238E27FC236}">
                <a16:creationId xmlns:a16="http://schemas.microsoft.com/office/drawing/2014/main" id="{F24E8C2B-C97D-F535-0A82-E321AB3D4E90}"/>
              </a:ext>
            </a:extLst>
          </p:cNvPr>
          <p:cNvSpPr>
            <a:spLocks noGrp="1" noChangeArrowheads="1"/>
          </p:cNvSpPr>
          <p:nvPr>
            <p:ph idx="1"/>
          </p:nvPr>
        </p:nvSpPr>
        <p:spPr bwMode="auto">
          <a:xfrm>
            <a:off x="457200" y="1601024"/>
            <a:ext cx="8001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rPr>
              <a:t>Early Detection of Sepsis</a:t>
            </a:r>
            <a:r>
              <a:rPr kumimoji="0" lang="en-US" altLang="en-US" sz="2400" b="0" i="0" u="none" strike="noStrike" cap="none" normalizeH="0" baseline="0" dirty="0">
                <a:ln>
                  <a:noFill/>
                </a:ln>
                <a:solidFill>
                  <a:schemeClr val="tx1"/>
                </a:solidFill>
                <a:effectLst/>
              </a:rPr>
              <a:t>: The system will enable timely identification of patients at risk of developing sepsis by continuously monitoring vital signs and applying machine learning algorithms for prediction.</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rPr>
              <a:t>Improved Patient Management</a:t>
            </a:r>
            <a:r>
              <a:rPr kumimoji="0" lang="en-US" altLang="en-US" sz="2400" b="0" i="0" u="none" strike="noStrike" cap="none" normalizeH="0" baseline="0" dirty="0">
                <a:ln>
                  <a:noFill/>
                </a:ln>
                <a:solidFill>
                  <a:schemeClr val="tx1"/>
                </a:solidFill>
                <a:effectLst/>
              </a:rPr>
              <a:t>: Healthcare providers will have access to real-time data and alerts regarding patients' conditions, allowing for more informed decision-making and prompt medical intervention.</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rPr>
              <a:t>Enhanced Predictive Accuracy</a:t>
            </a:r>
            <a:r>
              <a:rPr kumimoji="0" lang="en-US" altLang="en-US" sz="2400" b="0" i="0" u="none" strike="noStrike" cap="none" normalizeH="0" baseline="0" dirty="0">
                <a:ln>
                  <a:noFill/>
                </a:ln>
                <a:solidFill>
                  <a:schemeClr val="tx1"/>
                </a:solidFill>
                <a:effectLst/>
              </a:rPr>
              <a:t>: By integrating various patient data, including vital signs and medical history, the prediction model will improve its accuracy in assessing sepsis risk, potentially leading to better clinical outcomes.</a:t>
            </a:r>
          </a:p>
        </p:txBody>
      </p:sp>
    </p:spTree>
    <p:extLst>
      <p:ext uri="{BB962C8B-B14F-4D97-AF65-F5344CB8AC3E}">
        <p14:creationId xmlns:p14="http://schemas.microsoft.com/office/powerpoint/2010/main" val="3974492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23F056-9241-744D-3084-DBBE67D44CF8}"/>
              </a:ext>
            </a:extLst>
          </p:cNvPr>
          <p:cNvSpPr>
            <a:spLocks noGrp="1"/>
          </p:cNvSpPr>
          <p:nvPr>
            <p:ph idx="1"/>
          </p:nvPr>
        </p:nvSpPr>
        <p:spPr>
          <a:xfrm>
            <a:off x="457200" y="609600"/>
            <a:ext cx="8229600" cy="4525963"/>
          </a:xfrm>
        </p:spPr>
        <p:txBody>
          <a:bodyPr>
            <a:normAutofit/>
          </a:bodyPr>
          <a:lstStyle/>
          <a:p>
            <a:pPr marL="457200" indent="-457200" algn="just">
              <a:buFont typeface="+mj-lt"/>
              <a:buAutoNum type="arabicPeriod" startAt="4"/>
            </a:pPr>
            <a:r>
              <a:rPr lang="en-US" sz="2400" b="1" dirty="0"/>
              <a:t>User-Friendly Interface</a:t>
            </a:r>
            <a:r>
              <a:rPr lang="en-US" sz="2400" dirty="0"/>
              <a:t>: The web-based interface will facilitate easy data entry and retrieval for clinical experts, streamlining the process of monitoring patient conditions and updating records.</a:t>
            </a:r>
          </a:p>
          <a:p>
            <a:pPr marL="457200" indent="-457200" algn="just">
              <a:buFont typeface="+mj-lt"/>
              <a:buAutoNum type="arabicPeriod" startAt="4"/>
            </a:pPr>
            <a:r>
              <a:rPr lang="en-US" sz="2400" b="1" dirty="0"/>
              <a:t>Patient Alerts and Notifications</a:t>
            </a:r>
            <a:r>
              <a:rPr lang="en-US" sz="2400" dirty="0"/>
              <a:t>: The system will provide timely alerts to healthcare providers when a patient's condition indicates a high risk of sepsis, enhancing response times and patient care.</a:t>
            </a:r>
            <a:endParaRPr lang="en-IN" sz="2400" dirty="0"/>
          </a:p>
        </p:txBody>
      </p:sp>
      <p:sp>
        <p:nvSpPr>
          <p:cNvPr id="4" name="Date Placeholder 3">
            <a:extLst>
              <a:ext uri="{FF2B5EF4-FFF2-40B4-BE49-F238E27FC236}">
                <a16:creationId xmlns:a16="http://schemas.microsoft.com/office/drawing/2014/main" id="{B490E550-EFCB-626F-F294-A1D11CA0A194}"/>
              </a:ext>
            </a:extLst>
          </p:cNvPr>
          <p:cNvSpPr>
            <a:spLocks noGrp="1"/>
          </p:cNvSpPr>
          <p:nvPr>
            <p:ph type="dt" sz="half" idx="10"/>
          </p:nvPr>
        </p:nvSpPr>
        <p:spPr/>
        <p:txBody>
          <a:bodyPr/>
          <a:lstStyle/>
          <a:p>
            <a:fld id="{829B4228-AA12-4196-AEF5-6FECB3000949}" type="datetime1">
              <a:rPr lang="en-IN" smtClean="0"/>
              <a:t>12-10-2024</a:t>
            </a:fld>
            <a:endParaRPr lang="en-IN"/>
          </a:p>
        </p:txBody>
      </p:sp>
      <p:sp>
        <p:nvSpPr>
          <p:cNvPr id="5" name="Footer Placeholder 4">
            <a:extLst>
              <a:ext uri="{FF2B5EF4-FFF2-40B4-BE49-F238E27FC236}">
                <a16:creationId xmlns:a16="http://schemas.microsoft.com/office/drawing/2014/main" id="{4BD870F2-5A2F-D534-817B-BE4D7E0AC0C4}"/>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3159E932-B2E7-3ECE-93D3-E72E86057D88}"/>
              </a:ext>
            </a:extLst>
          </p:cNvPr>
          <p:cNvSpPr>
            <a:spLocks noGrp="1"/>
          </p:cNvSpPr>
          <p:nvPr>
            <p:ph type="sldNum" sz="quarter" idx="12"/>
          </p:nvPr>
        </p:nvSpPr>
        <p:spPr/>
        <p:txBody>
          <a:bodyPr/>
          <a:lstStyle/>
          <a:p>
            <a:fld id="{B00A3A97-690C-481D-B0C5-B7E8478245ED}" type="slidenum">
              <a:rPr lang="en-IN" smtClean="0"/>
              <a:pPr/>
              <a:t>12</a:t>
            </a:fld>
            <a:endParaRPr lang="en-IN"/>
          </a:p>
        </p:txBody>
      </p:sp>
    </p:spTree>
    <p:extLst>
      <p:ext uri="{BB962C8B-B14F-4D97-AF65-F5344CB8AC3E}">
        <p14:creationId xmlns:p14="http://schemas.microsoft.com/office/powerpoint/2010/main" val="3621391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EE1EE-7EE6-0943-129C-F580D52F4C8D}"/>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62DB1B9B-4D82-67A1-AE64-97642842C95E}"/>
              </a:ext>
            </a:extLst>
          </p:cNvPr>
          <p:cNvSpPr>
            <a:spLocks noGrp="1"/>
          </p:cNvSpPr>
          <p:nvPr>
            <p:ph idx="1"/>
          </p:nvPr>
        </p:nvSpPr>
        <p:spPr>
          <a:xfrm>
            <a:off x="457200" y="1295400"/>
            <a:ext cx="8229600" cy="4830763"/>
          </a:xfrm>
        </p:spPr>
        <p:txBody>
          <a:bodyPr>
            <a:noAutofit/>
          </a:bodyPr>
          <a:lstStyle/>
          <a:p>
            <a:pPr marL="0" indent="0" algn="just">
              <a:buNone/>
            </a:pPr>
            <a:r>
              <a:rPr lang="en-US" sz="2400" dirty="0"/>
              <a:t>In conclusion, this real-time sepsis monitoring system has the potential to greatly enhance patient care by enabling early detection of sepsis through continuous vital sign monitoring. By utilizing machine learning for accurate predictions, healthcare providers can intervene swiftly, reducing the risks associated with sepsis. The user-friendly interface further supports clinicians in entering essential patient data, improving the overall effectiveness of the predictive model. Ultimately, this project aims to improve patient safety and healthcare outcomes significantly.</a:t>
            </a:r>
            <a:endParaRPr lang="en-IN" sz="2400" dirty="0"/>
          </a:p>
        </p:txBody>
      </p:sp>
      <p:sp>
        <p:nvSpPr>
          <p:cNvPr id="4" name="Date Placeholder 3">
            <a:extLst>
              <a:ext uri="{FF2B5EF4-FFF2-40B4-BE49-F238E27FC236}">
                <a16:creationId xmlns:a16="http://schemas.microsoft.com/office/drawing/2014/main" id="{448D8850-6619-AB69-8309-A08B72060D06}"/>
              </a:ext>
            </a:extLst>
          </p:cNvPr>
          <p:cNvSpPr>
            <a:spLocks noGrp="1"/>
          </p:cNvSpPr>
          <p:nvPr>
            <p:ph type="dt" sz="half" idx="10"/>
          </p:nvPr>
        </p:nvSpPr>
        <p:spPr/>
        <p:txBody>
          <a:bodyPr/>
          <a:lstStyle/>
          <a:p>
            <a:fld id="{829B4228-AA12-4196-AEF5-6FECB3000949}" type="datetime1">
              <a:rPr lang="en-IN" smtClean="0"/>
              <a:t>12-10-2024</a:t>
            </a:fld>
            <a:endParaRPr lang="en-IN"/>
          </a:p>
        </p:txBody>
      </p:sp>
      <p:sp>
        <p:nvSpPr>
          <p:cNvPr id="5" name="Footer Placeholder 4">
            <a:extLst>
              <a:ext uri="{FF2B5EF4-FFF2-40B4-BE49-F238E27FC236}">
                <a16:creationId xmlns:a16="http://schemas.microsoft.com/office/drawing/2014/main" id="{CA2A59C4-287A-A085-9B20-F5A395F2F382}"/>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CE23BC2D-E0EA-CD57-4A6A-A51486D97147}"/>
              </a:ext>
            </a:extLst>
          </p:cNvPr>
          <p:cNvSpPr>
            <a:spLocks noGrp="1"/>
          </p:cNvSpPr>
          <p:nvPr>
            <p:ph type="sldNum" sz="quarter" idx="12"/>
          </p:nvPr>
        </p:nvSpPr>
        <p:spPr/>
        <p:txBody>
          <a:bodyPr/>
          <a:lstStyle/>
          <a:p>
            <a:fld id="{B00A3A97-690C-481D-B0C5-B7E8478245ED}" type="slidenum">
              <a:rPr lang="en-IN" smtClean="0"/>
              <a:pPr/>
              <a:t>13</a:t>
            </a:fld>
            <a:endParaRPr lang="en-IN"/>
          </a:p>
        </p:txBody>
      </p:sp>
    </p:spTree>
    <p:extLst>
      <p:ext uri="{BB962C8B-B14F-4D97-AF65-F5344CB8AC3E}">
        <p14:creationId xmlns:p14="http://schemas.microsoft.com/office/powerpoint/2010/main" val="2756419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9493"/>
            <a:ext cx="8229600" cy="1219200"/>
          </a:xfrm>
        </p:spPr>
        <p:txBody>
          <a:bodyPr/>
          <a:lstStyle/>
          <a:p>
            <a:r>
              <a:rPr lang="en-US" dirty="0"/>
              <a:t>References</a:t>
            </a:r>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6AB7D8B2-8E28-4D7B-9561-E79A365D0C62}" type="datetime1">
              <a:rPr lang="en-IN" smtClean="0"/>
              <a:t>12-10-2024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14</a:t>
            </a:fld>
            <a:endParaRPr lang="en-IN"/>
          </a:p>
        </p:txBody>
      </p:sp>
      <p:sp>
        <p:nvSpPr>
          <p:cNvPr id="5" name="Rectangle 2">
            <a:extLst>
              <a:ext uri="{FF2B5EF4-FFF2-40B4-BE49-F238E27FC236}">
                <a16:creationId xmlns:a16="http://schemas.microsoft.com/office/drawing/2014/main" id="{8759512C-5583-39FA-1622-BEB1F8B8CFE1}"/>
              </a:ext>
            </a:extLst>
          </p:cNvPr>
          <p:cNvSpPr>
            <a:spLocks noGrp="1" noChangeArrowheads="1"/>
          </p:cNvSpPr>
          <p:nvPr>
            <p:ph idx="1"/>
          </p:nvPr>
        </p:nvSpPr>
        <p:spPr bwMode="auto">
          <a:xfrm>
            <a:off x="267586" y="1093371"/>
            <a:ext cx="83820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rPr>
              <a:t>Schertz, A. R., Lenoir, K. M., </a:t>
            </a:r>
            <a:r>
              <a:rPr kumimoji="0" lang="en-US" altLang="en-US" sz="2400" b="0" i="0" u="none" strike="noStrike" cap="none" normalizeH="0" baseline="0" dirty="0" err="1">
                <a:ln>
                  <a:noFill/>
                </a:ln>
                <a:solidFill>
                  <a:schemeClr val="tx1"/>
                </a:solidFill>
                <a:effectLst/>
              </a:rPr>
              <a:t>Bertoni</a:t>
            </a:r>
            <a:r>
              <a:rPr kumimoji="0" lang="en-US" altLang="en-US" sz="2400" b="0" i="0" u="none" strike="noStrike" cap="none" normalizeH="0" baseline="0" dirty="0">
                <a:ln>
                  <a:noFill/>
                </a:ln>
                <a:solidFill>
                  <a:schemeClr val="tx1"/>
                </a:solidFill>
                <a:effectLst/>
              </a:rPr>
              <a:t>, A. G., Levine, B. J., </a:t>
            </a:r>
            <a:r>
              <a:rPr kumimoji="0" lang="en-US" altLang="en-US" sz="2400" b="0" i="0" u="none" strike="noStrike" cap="none" normalizeH="0" baseline="0" dirty="0" err="1">
                <a:ln>
                  <a:noFill/>
                </a:ln>
                <a:solidFill>
                  <a:schemeClr val="tx1"/>
                </a:solidFill>
                <a:effectLst/>
              </a:rPr>
              <a:t>Mongraw</a:t>
            </a:r>
            <a:r>
              <a:rPr kumimoji="0" lang="en-US" altLang="en-US" sz="2400" b="0" i="0" u="none" strike="noStrike" cap="none" normalizeH="0" baseline="0" dirty="0">
                <a:ln>
                  <a:noFill/>
                </a:ln>
                <a:solidFill>
                  <a:schemeClr val="tx1"/>
                </a:solidFill>
                <a:effectLst/>
              </a:rPr>
              <a:t>-Chaffin, M., &amp; Thomas, K. W. (2023). </a:t>
            </a:r>
            <a:r>
              <a:rPr kumimoji="0" lang="en-US" altLang="en-US" sz="2400" b="1" i="0" u="none" strike="noStrike" cap="none" normalizeH="0" baseline="0" dirty="0">
                <a:ln>
                  <a:noFill/>
                </a:ln>
                <a:solidFill>
                  <a:schemeClr val="tx1"/>
                </a:solidFill>
                <a:effectLst/>
              </a:rPr>
              <a:t>Sepsis prediction model for determining sepsis vs. SIRS, </a:t>
            </a:r>
            <a:r>
              <a:rPr kumimoji="0" lang="en-US" altLang="en-US" sz="2400" b="1" i="0" u="none" strike="noStrike" cap="none" normalizeH="0" baseline="0" dirty="0" err="1">
                <a:ln>
                  <a:noFill/>
                </a:ln>
                <a:solidFill>
                  <a:schemeClr val="tx1"/>
                </a:solidFill>
                <a:effectLst/>
              </a:rPr>
              <a:t>qSOFA</a:t>
            </a:r>
            <a:r>
              <a:rPr kumimoji="0" lang="en-US" altLang="en-US" sz="2400" b="1" i="0" u="none" strike="noStrike" cap="none" normalizeH="0" baseline="0" dirty="0">
                <a:ln>
                  <a:noFill/>
                </a:ln>
                <a:solidFill>
                  <a:schemeClr val="tx1"/>
                </a:solidFill>
                <a:effectLst/>
              </a:rPr>
              <a:t>, and SOFA.</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err="1">
                <a:ln>
                  <a:noFill/>
                </a:ln>
                <a:solidFill>
                  <a:schemeClr val="tx1"/>
                </a:solidFill>
                <a:effectLst/>
              </a:rPr>
              <a:t>Alanazi</a:t>
            </a:r>
            <a:r>
              <a:rPr kumimoji="0" lang="en-US" altLang="en-US" sz="2400" b="0" i="0" u="none" strike="noStrike" cap="none" normalizeH="0" baseline="0" dirty="0">
                <a:ln>
                  <a:noFill/>
                </a:ln>
                <a:solidFill>
                  <a:schemeClr val="tx1"/>
                </a:solidFill>
                <a:effectLst/>
              </a:rPr>
              <a:t>, A., </a:t>
            </a:r>
            <a:r>
              <a:rPr kumimoji="0" lang="en-US" altLang="en-US" sz="2400" b="0" i="0" u="none" strike="noStrike" cap="none" normalizeH="0" baseline="0" dirty="0" err="1">
                <a:ln>
                  <a:noFill/>
                </a:ln>
                <a:solidFill>
                  <a:schemeClr val="tx1"/>
                </a:solidFill>
                <a:effectLst/>
              </a:rPr>
              <a:t>Aldakhil</a:t>
            </a:r>
            <a:r>
              <a:rPr kumimoji="0" lang="en-US" altLang="en-US" sz="2400" b="0" i="0" u="none" strike="noStrike" cap="none" normalizeH="0" baseline="0" dirty="0">
                <a:ln>
                  <a:noFill/>
                </a:ln>
                <a:solidFill>
                  <a:schemeClr val="tx1"/>
                </a:solidFill>
                <a:effectLst/>
              </a:rPr>
              <a:t>, L., </a:t>
            </a:r>
            <a:r>
              <a:rPr kumimoji="0" lang="en-US" altLang="en-US" sz="2400" b="0" i="0" u="none" strike="noStrike" cap="none" normalizeH="0" baseline="0" dirty="0" err="1">
                <a:ln>
                  <a:noFill/>
                </a:ln>
                <a:solidFill>
                  <a:schemeClr val="tx1"/>
                </a:solidFill>
                <a:effectLst/>
              </a:rPr>
              <a:t>Aldhoayan</a:t>
            </a:r>
            <a:r>
              <a:rPr kumimoji="0" lang="en-US" altLang="en-US" sz="2400" b="0" i="0" u="none" strike="noStrike" cap="none" normalizeH="0" baseline="0" dirty="0">
                <a:ln>
                  <a:noFill/>
                </a:ln>
                <a:solidFill>
                  <a:schemeClr val="tx1"/>
                </a:solidFill>
                <a:effectLst/>
              </a:rPr>
              <a:t>, M., &amp; </a:t>
            </a:r>
            <a:r>
              <a:rPr kumimoji="0" lang="en-US" altLang="en-US" sz="2400" b="0" i="0" u="none" strike="noStrike" cap="none" normalizeH="0" baseline="0" dirty="0" err="1">
                <a:ln>
                  <a:noFill/>
                </a:ln>
                <a:solidFill>
                  <a:schemeClr val="tx1"/>
                </a:solidFill>
                <a:effectLst/>
              </a:rPr>
              <a:t>Aldosari</a:t>
            </a:r>
            <a:r>
              <a:rPr kumimoji="0" lang="en-US" altLang="en-US" sz="2400" b="0" i="0" u="none" strike="noStrike" cap="none" normalizeH="0" baseline="0" dirty="0">
                <a:ln>
                  <a:noFill/>
                </a:ln>
                <a:solidFill>
                  <a:schemeClr val="tx1"/>
                </a:solidFill>
                <a:effectLst/>
              </a:rPr>
              <a:t>, B. (2022). </a:t>
            </a:r>
            <a:r>
              <a:rPr kumimoji="0" lang="en-US" altLang="en-US" sz="2400" b="1" i="0" u="none" strike="noStrike" cap="none" normalizeH="0" baseline="0" dirty="0">
                <a:ln>
                  <a:noFill/>
                </a:ln>
                <a:solidFill>
                  <a:schemeClr val="tx1"/>
                </a:solidFill>
                <a:effectLst/>
              </a:rPr>
              <a:t>Machine learning for early prediction of sepsis in intensive care unit (ICU) patients. </a:t>
            </a:r>
            <a:r>
              <a:rPr kumimoji="0" lang="en-US" altLang="en-US" sz="2400" b="0" i="1" u="none" strike="noStrike" cap="none" normalizeH="0" baseline="0" dirty="0">
                <a:ln>
                  <a:noFill/>
                </a:ln>
                <a:solidFill>
                  <a:schemeClr val="tx1"/>
                </a:solidFill>
                <a:effectLst/>
              </a:rPr>
              <a:t>Department of Health Informatics, College of Public Health and Health Informatics, King Saud Ibn Abdulaziz University for Health Sciences, Riyadh, Saudi Arabia</a:t>
            </a:r>
            <a:r>
              <a:rPr kumimoji="0" lang="en-US" altLang="en-US" sz="2400" b="0" i="0" u="none" strike="noStrike" cap="none" normalizeH="0" baseline="0" dirty="0">
                <a:ln>
                  <a:noFill/>
                </a:ln>
                <a:solidFill>
                  <a:schemeClr val="tx1"/>
                </a:solidFill>
                <a:effectLst/>
              </a:rPr>
              <a: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rPr>
              <a:t>Shankar, A., Diwan, M., Singh, S., </a:t>
            </a:r>
            <a:r>
              <a:rPr kumimoji="0" lang="en-US" altLang="en-US" sz="2400" b="0" i="0" u="none" strike="noStrike" cap="none" normalizeH="0" baseline="0" dirty="0" err="1">
                <a:ln>
                  <a:noFill/>
                </a:ln>
                <a:solidFill>
                  <a:schemeClr val="tx1"/>
                </a:solidFill>
                <a:effectLst/>
              </a:rPr>
              <a:t>Nahrpurawala</a:t>
            </a:r>
            <a:r>
              <a:rPr kumimoji="0" lang="en-US" altLang="en-US" sz="2400" b="0" i="0" u="none" strike="noStrike" cap="none" normalizeH="0" baseline="0" dirty="0">
                <a:ln>
                  <a:noFill/>
                </a:ln>
                <a:solidFill>
                  <a:schemeClr val="tx1"/>
                </a:solidFill>
                <a:effectLst/>
              </a:rPr>
              <a:t>, H., &amp; </a:t>
            </a:r>
            <a:r>
              <a:rPr kumimoji="0" lang="en-US" altLang="en-US" sz="2400" b="0" i="0" u="none" strike="noStrike" cap="none" normalizeH="0" baseline="0" dirty="0" err="1">
                <a:ln>
                  <a:noFill/>
                </a:ln>
                <a:solidFill>
                  <a:schemeClr val="tx1"/>
                </a:solidFill>
                <a:effectLst/>
              </a:rPr>
              <a:t>Bhowmick</a:t>
            </a:r>
            <a:r>
              <a:rPr kumimoji="0" lang="en-US" altLang="en-US" sz="2400" b="0" i="0" u="none" strike="noStrike" cap="none" normalizeH="0" baseline="0" dirty="0">
                <a:ln>
                  <a:noFill/>
                </a:ln>
                <a:solidFill>
                  <a:schemeClr val="tx1"/>
                </a:solidFill>
                <a:effectLst/>
              </a:rPr>
              <a:t>, T. (2021). </a:t>
            </a:r>
            <a:r>
              <a:rPr kumimoji="0" lang="en-US" altLang="en-US" sz="2400" b="1" i="0" u="none" strike="noStrike" cap="none" normalizeH="0" baseline="0" dirty="0">
                <a:ln>
                  <a:noFill/>
                </a:ln>
                <a:solidFill>
                  <a:schemeClr val="tx1"/>
                </a:solidFill>
                <a:effectLst/>
              </a:rPr>
              <a:t>Early prediction of sepsis using machine learning.</a:t>
            </a:r>
            <a:r>
              <a:rPr kumimoji="0" lang="en-US" altLang="en-US" sz="2400" b="0" i="0" u="none" strike="noStrike" cap="none" normalizeH="0" baseline="0" dirty="0">
                <a:ln>
                  <a:noFill/>
                </a:ln>
                <a:solidFill>
                  <a:schemeClr val="tx1"/>
                </a:solidFill>
                <a:effectLst/>
              </a:rPr>
              <a:t> In </a:t>
            </a:r>
            <a:r>
              <a:rPr kumimoji="0" lang="en-US" altLang="en-US" sz="2400" b="0" i="1" u="none" strike="noStrike" cap="none" normalizeH="0" baseline="0" dirty="0">
                <a:ln>
                  <a:noFill/>
                </a:ln>
                <a:solidFill>
                  <a:schemeClr val="tx1"/>
                </a:solidFill>
                <a:effectLst/>
              </a:rPr>
              <a:t>Proceedings of the 11th International Conference on Cloud Computing, Data Science &amp; Engineering (Confluence)</a:t>
            </a:r>
            <a:r>
              <a:rPr kumimoji="0" lang="en-US" altLang="en-US" sz="2400" b="0" i="0" u="none" strike="noStrike" cap="none" normalizeH="0" baseline="0" dirty="0">
                <a:ln>
                  <a:noFill/>
                </a:ln>
                <a:solidFill>
                  <a:schemeClr val="tx1"/>
                </a:solidFill>
                <a:effectLst/>
              </a:rPr>
              <a:t> (pp. 978-1-6654-1451-7). IEEE.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68882-1091-031C-0C42-BAFA2D0AC21A}"/>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A784217E-32AD-9550-7E15-4E0FE0479EB7}"/>
              </a:ext>
            </a:extLst>
          </p:cNvPr>
          <p:cNvSpPr>
            <a:spLocks noGrp="1"/>
          </p:cNvSpPr>
          <p:nvPr>
            <p:ph type="ftr" sz="quarter" idx="11"/>
          </p:nvPr>
        </p:nvSpPr>
        <p:spPr/>
        <p:txBody>
          <a:bodyPr/>
          <a:lstStyle/>
          <a:p>
            <a:r>
              <a:rPr lang="en-IN"/>
              <a:t>AJIET Mangaluru</a:t>
            </a:r>
          </a:p>
        </p:txBody>
      </p:sp>
      <p:sp>
        <p:nvSpPr>
          <p:cNvPr id="7" name="Date Placeholder 6">
            <a:extLst>
              <a:ext uri="{FF2B5EF4-FFF2-40B4-BE49-F238E27FC236}">
                <a16:creationId xmlns:a16="http://schemas.microsoft.com/office/drawing/2014/main" id="{166F6A55-C66F-F8A9-2DD6-D6D5A26475FA}"/>
              </a:ext>
            </a:extLst>
          </p:cNvPr>
          <p:cNvSpPr>
            <a:spLocks noGrp="1"/>
          </p:cNvSpPr>
          <p:nvPr>
            <p:ph type="dt" sz="half" idx="10"/>
          </p:nvPr>
        </p:nvSpPr>
        <p:spPr/>
        <p:txBody>
          <a:bodyPr/>
          <a:lstStyle/>
          <a:p>
            <a:fld id="{6AB7D8B2-8E28-4D7B-9561-E79A365D0C62}" type="datetime1">
              <a:rPr lang="en-IN" smtClean="0"/>
              <a:t>12-10-2024</a:t>
            </a:fld>
            <a:endParaRPr lang="en-IN"/>
          </a:p>
        </p:txBody>
      </p:sp>
      <p:sp>
        <p:nvSpPr>
          <p:cNvPr id="8" name="Slide Number Placeholder 7">
            <a:extLst>
              <a:ext uri="{FF2B5EF4-FFF2-40B4-BE49-F238E27FC236}">
                <a16:creationId xmlns:a16="http://schemas.microsoft.com/office/drawing/2014/main" id="{01DD302A-0CAB-9818-3831-C4FE71C4BFF8}"/>
              </a:ext>
            </a:extLst>
          </p:cNvPr>
          <p:cNvSpPr>
            <a:spLocks noGrp="1"/>
          </p:cNvSpPr>
          <p:nvPr>
            <p:ph type="sldNum" sz="quarter" idx="12"/>
          </p:nvPr>
        </p:nvSpPr>
        <p:spPr/>
        <p:txBody>
          <a:bodyPr/>
          <a:lstStyle/>
          <a:p>
            <a:fld id="{B00A3A97-690C-481D-B0C5-B7E8478245ED}" type="slidenum">
              <a:rPr lang="en-IN" smtClean="0"/>
              <a:pPr/>
              <a:t>15</a:t>
            </a:fld>
            <a:endParaRPr lang="en-IN"/>
          </a:p>
        </p:txBody>
      </p:sp>
      <p:sp>
        <p:nvSpPr>
          <p:cNvPr id="5" name="Rectangle 2">
            <a:extLst>
              <a:ext uri="{FF2B5EF4-FFF2-40B4-BE49-F238E27FC236}">
                <a16:creationId xmlns:a16="http://schemas.microsoft.com/office/drawing/2014/main" id="{2AB4DDD5-0B50-0C50-93C8-0D3CAC434DB9}"/>
              </a:ext>
            </a:extLst>
          </p:cNvPr>
          <p:cNvSpPr>
            <a:spLocks noGrp="1" noChangeArrowheads="1"/>
          </p:cNvSpPr>
          <p:nvPr>
            <p:ph idx="1"/>
          </p:nvPr>
        </p:nvSpPr>
        <p:spPr bwMode="auto">
          <a:xfrm>
            <a:off x="723900" y="533400"/>
            <a:ext cx="76962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startAt="4"/>
              <a:tabLst/>
            </a:pPr>
            <a:r>
              <a:rPr kumimoji="0" lang="en-US" altLang="en-US" sz="2400" b="0" i="0" u="none" strike="noStrike" cap="none" normalizeH="0" baseline="0" dirty="0">
                <a:ln>
                  <a:noFill/>
                </a:ln>
                <a:solidFill>
                  <a:schemeClr val="tx1"/>
                </a:solidFill>
                <a:effectLst/>
              </a:rPr>
              <a:t>Zhou, L., Shao, M., Wang, C., &amp; Wang, Y. (2024). </a:t>
            </a:r>
            <a:r>
              <a:rPr kumimoji="0" lang="en-US" altLang="en-US" sz="2400" b="1" i="0" u="none" strike="noStrike" cap="none" normalizeH="0" baseline="0" dirty="0">
                <a:ln>
                  <a:noFill/>
                </a:ln>
                <a:solidFill>
                  <a:schemeClr val="tx1"/>
                </a:solidFill>
                <a:effectLst/>
              </a:rPr>
              <a:t>An early sepsis prediction model utilizing machine learning and unbalanced data processing in a clinical context</a:t>
            </a:r>
            <a:r>
              <a:rPr kumimoji="0" lang="en-US" altLang="en-US" sz="2400" b="0" i="0" u="none" strike="noStrike" cap="none" normalizeH="0" baseline="0" dirty="0">
                <a:ln>
                  <a:noFill/>
                </a:ln>
                <a:solidFill>
                  <a:schemeClr val="tx1"/>
                </a:solidFill>
                <a:effectLst/>
              </a:rPr>
              <a:t>. </a:t>
            </a:r>
            <a:r>
              <a:rPr kumimoji="0" lang="en-US" altLang="en-US" sz="2400" b="0" i="1" u="none" strike="noStrike" cap="none" normalizeH="0" baseline="0" dirty="0">
                <a:ln>
                  <a:noFill/>
                </a:ln>
                <a:solidFill>
                  <a:schemeClr val="tx1"/>
                </a:solidFill>
                <a:effectLst/>
              </a:rPr>
              <a:t>Volume 45</a:t>
            </a:r>
            <a:r>
              <a:rPr kumimoji="0" lang="en-US" altLang="en-US" sz="2400" b="0" i="0" u="none" strike="noStrike" cap="none" normalizeH="0" baseline="0" dirty="0">
                <a:ln>
                  <a:noFill/>
                </a:ln>
                <a:solidFill>
                  <a:schemeClr val="tx1"/>
                </a:solidFill>
                <a:effectLst/>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startAt="4"/>
              <a:tabLst/>
            </a:pPr>
            <a:r>
              <a:rPr kumimoji="0" lang="en-US" altLang="en-US" sz="2400" b="0" i="0" u="none" strike="noStrike" cap="none" normalizeH="0" baseline="0" dirty="0">
                <a:ln>
                  <a:noFill/>
                </a:ln>
                <a:solidFill>
                  <a:schemeClr val="tx1"/>
                </a:solidFill>
                <a:effectLst/>
              </a:rPr>
              <a:t>Lyra, S., Leonhardt, S., &amp; Hoog </a:t>
            </a:r>
            <a:r>
              <a:rPr kumimoji="0" lang="en-US" altLang="en-US" sz="2400" b="0" i="0" u="none" strike="noStrike" cap="none" normalizeH="0" baseline="0" dirty="0" err="1">
                <a:ln>
                  <a:noFill/>
                </a:ln>
                <a:solidFill>
                  <a:schemeClr val="tx1"/>
                </a:solidFill>
                <a:effectLst/>
              </a:rPr>
              <a:t>Antink</a:t>
            </a:r>
            <a:r>
              <a:rPr kumimoji="0" lang="en-US" altLang="en-US" sz="2400" b="0" i="0" u="none" strike="noStrike" cap="none" normalizeH="0" baseline="0" dirty="0">
                <a:ln>
                  <a:noFill/>
                </a:ln>
                <a:solidFill>
                  <a:schemeClr val="tx1"/>
                </a:solidFill>
                <a:effectLst/>
              </a:rPr>
              <a:t>, C. (2019). </a:t>
            </a:r>
            <a:r>
              <a:rPr kumimoji="0" lang="en-US" altLang="en-US" sz="2400" b="1" i="0" u="none" strike="noStrike" cap="none" normalizeH="0" baseline="0" dirty="0">
                <a:ln>
                  <a:noFill/>
                </a:ln>
                <a:solidFill>
                  <a:schemeClr val="tx1"/>
                </a:solidFill>
                <a:effectLst/>
              </a:rPr>
              <a:t>Early prediction of sepsis using random forest classification for imbalanced clinical data</a:t>
            </a:r>
            <a:r>
              <a:rPr kumimoji="0" lang="en-US" altLang="en-US" sz="2400" b="0" i="0" u="none" strike="noStrike" cap="none" normalizeH="0" baseline="0" dirty="0">
                <a:ln>
                  <a:noFill/>
                </a:ln>
                <a:solidFill>
                  <a:schemeClr val="tx1"/>
                </a:solidFill>
                <a:effectLst/>
              </a:rPr>
              <a:t>. </a:t>
            </a:r>
            <a:r>
              <a:rPr kumimoji="0" lang="en-US" altLang="en-US" sz="2400" b="0" i="1" u="none" strike="noStrike" cap="none" normalizeH="0" baseline="0" dirty="0">
                <a:ln>
                  <a:noFill/>
                </a:ln>
                <a:solidFill>
                  <a:schemeClr val="tx1"/>
                </a:solidFill>
                <a:effectLst/>
              </a:rPr>
              <a:t>Medical Information Technology, Helmholtz-Institute for Biomedical Engineering, RWTH Aachen University, Germany</a:t>
            </a:r>
            <a:r>
              <a:rPr kumimoji="0" lang="en-US" altLang="en-US" sz="24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51923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b="1" dirty="0">
                <a:latin typeface="Times New Roman" panose="02020603050405020304" pitchFamily="18" charset="0"/>
                <a:cs typeface="Times New Roman" panose="02020603050405020304" pitchFamily="18" charset="0"/>
              </a:rPr>
              <a:t>			</a:t>
            </a:r>
          </a:p>
          <a:p>
            <a:pPr>
              <a:buNone/>
            </a:pPr>
            <a:endParaRPr lang="en-IN" b="1" dirty="0">
              <a:latin typeface="Times New Roman" panose="02020603050405020304" pitchFamily="18" charset="0"/>
              <a:cs typeface="Times New Roman" panose="02020603050405020304" pitchFamily="18" charset="0"/>
            </a:endParaRPr>
          </a:p>
          <a:p>
            <a:pPr>
              <a:buNone/>
            </a:pPr>
            <a:r>
              <a:rPr lang="en-IN" sz="4800" b="1" dirty="0">
                <a:latin typeface="Times New Roman" panose="02020603050405020304" pitchFamily="18" charset="0"/>
                <a:cs typeface="Times New Roman" panose="02020603050405020304" pitchFamily="18" charset="0"/>
              </a:rPr>
              <a:t>			THANK YOU</a:t>
            </a:r>
          </a:p>
          <a:p>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2C110490-F122-4C64-8A27-519045F0309A}" type="datetime1">
              <a:rPr lang="en-IN" smtClean="0"/>
              <a:t>12-10-2024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16</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2776</TotalTime>
  <Words>1445</Words>
  <Application>Microsoft Office PowerPoint</Application>
  <PresentationFormat>On-screen Show (4:3)</PresentationFormat>
  <Paragraphs>127</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Times New Roman</vt:lpstr>
      <vt:lpstr>Office Theme</vt:lpstr>
      <vt:lpstr>“Sepsis Detection via Wireless Sensors and ML”</vt:lpstr>
      <vt:lpstr>Contents</vt:lpstr>
      <vt:lpstr>Introduction</vt:lpstr>
      <vt:lpstr>Literature Survey</vt:lpstr>
      <vt:lpstr>Objectives</vt:lpstr>
      <vt:lpstr>Problem Statement</vt:lpstr>
      <vt:lpstr>Methodology</vt:lpstr>
      <vt:lpstr>Methodology</vt:lpstr>
      <vt:lpstr>PowerPoint Presentation</vt:lpstr>
      <vt:lpstr>PowerPoint Presentation</vt:lpstr>
      <vt:lpstr>Expected Outcome</vt:lpstr>
      <vt:lpstr>PowerPoint Presentation</vt:lpstr>
      <vt:lpstr>Conclusion</vt:lpstr>
      <vt:lpstr>References</vt:lpstr>
      <vt:lpstr>PowerPoint Presentation</vt:lpstr>
      <vt:lpstr>PowerPoint Presentation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“IMPLEMENTATION OF FLEXIBLE AND COMPACT HARDWARE ARCHITECTURE FOR CRYPTOGRAPHIC ALGORITHMS”</dc:title>
  <dc:creator>Kiranvg</dc:creator>
  <cp:lastModifiedBy>anjelogigi@gmail.com</cp:lastModifiedBy>
  <cp:revision>70</cp:revision>
  <dcterms:created xsi:type="dcterms:W3CDTF">2019-04-30T08:17:01Z</dcterms:created>
  <dcterms:modified xsi:type="dcterms:W3CDTF">2024-10-12T17:04:11Z</dcterms:modified>
</cp:coreProperties>
</file>