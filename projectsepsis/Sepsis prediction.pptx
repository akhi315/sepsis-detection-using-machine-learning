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7" r:id="rId2"/>
    <p:sldId id="302" r:id="rId3"/>
    <p:sldId id="259" r:id="rId4"/>
    <p:sldId id="285" r:id="rId5"/>
    <p:sldId id="283" r:id="rId6"/>
    <p:sldId id="261" r:id="rId7"/>
    <p:sldId id="307" r:id="rId8"/>
    <p:sldId id="308" r:id="rId9"/>
    <p:sldId id="311" r:id="rId10"/>
    <p:sldId id="312" r:id="rId11"/>
    <p:sldId id="314" r:id="rId12"/>
    <p:sldId id="313" r:id="rId13"/>
    <p:sldId id="291" r:id="rId14"/>
    <p:sldId id="306" r:id="rId15"/>
    <p:sldId id="287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D271CAD-DD49-4977-B242-C4829FEA9FB1}" v="4" dt="2024-10-16T13:42:46.82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61" autoAdjust="0"/>
    <p:restoredTop sz="94660"/>
  </p:normalViewPr>
  <p:slideViewPr>
    <p:cSldViewPr>
      <p:cViewPr varScale="1">
        <p:scale>
          <a:sx n="78" d="100"/>
          <a:sy n="78" d="100"/>
        </p:scale>
        <p:origin x="1608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D58D04B-92CF-4C14-BCE4-F768192D490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Project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4A5695-6E2A-7FD7-8404-4BDA6F8DB71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34667C-7F5C-4A01-9412-7A243AC31FCF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318A49-543B-2683-052B-EEC23EFE75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7B13CB-9F75-C67E-F5B1-EB8684C925E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BCF30E-E3F6-4DFA-986E-367F44A4B75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650047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Title of the Project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C023C4-7BB1-4114-BA21-980A47861167}" type="datetimeFigureOut">
              <a:rPr lang="en-IN" smtClean="0"/>
              <a:pPr/>
              <a:t>16-10-2024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FC1D9-5BD0-4DE7-BF48-AD1B2C032B8C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DAEC444-603B-4F09-9A06-5917518DD901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5" name="Header Placeholder 4">
            <a:extLst>
              <a:ext uri="{FF2B5EF4-FFF2-40B4-BE49-F238E27FC236}">
                <a16:creationId xmlns:a16="http://schemas.microsoft.com/office/drawing/2014/main" id="{2573992F-F6DA-3674-BB57-BDA590156E7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en-IN"/>
              <a:t>Title of the Project</a:t>
            </a:r>
          </a:p>
        </p:txBody>
      </p:sp>
    </p:spTree>
    <p:extLst>
      <p:ext uri="{BB962C8B-B14F-4D97-AF65-F5344CB8AC3E}">
        <p14:creationId xmlns:p14="http://schemas.microsoft.com/office/powerpoint/2010/main" val="2777238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33660-62B5-4736-B1DE-66E37AC81563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18A418-B0F2-442C-9F96-347A5FAED8B9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6C454C-21E7-4CA7-9165-B62343ADCAA3}" type="datetime1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A4560-1EC5-478D-8C47-879D22B1EEF8}" type="datetime1">
              <a:rPr lang="en-IN" smtClean="0"/>
              <a:t>16-10-2024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4891EA-E25A-4F95-9FFE-DFC104E4BA1D}" type="datetime1">
              <a:rPr lang="en-IN" smtClean="0"/>
              <a:t>16-10-2024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BE9953-3DFA-42FF-AFBE-054B72091E51}" type="datetime1">
              <a:rPr lang="en-IN" smtClean="0"/>
              <a:t>16-10-2024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A2D1A1-B90E-4727-9A10-8E684D248352}" type="datetime1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89F697-CA0B-4B1B-AE47-41928510556B}" type="datetime1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49BD63-B405-418A-8711-D2F9F217DD21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481629-B283-4E04-9A84-2D4A526D9ED6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1463B-4783-470D-8BFB-BDA6CFFB6515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AJIET Mangaluru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0A3A97-690C-481D-B0C5-B7E8478245ED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019393"/>
            <a:ext cx="8610600" cy="1227417"/>
          </a:xfrm>
        </p:spPr>
        <p:txBody>
          <a:bodyPr>
            <a:normAutofit/>
          </a:bodyPr>
          <a:lstStyle/>
          <a:p>
            <a:r>
              <a:rPr lang="en-US" sz="3200" b="1" dirty="0"/>
              <a:t>“</a:t>
            </a:r>
            <a:r>
              <a:rPr lang="en-IN" sz="3200" b="1" dirty="0"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Sepsis Detection using Wireless Sensors and </a:t>
            </a:r>
            <a:br>
              <a:rPr lang="en-IN" sz="3200" b="1" dirty="0">
                <a:latin typeface="Times New Roman" panose="02020603050405020304" pitchFamily="18" charset="0"/>
                <a:ea typeface="Bookman Old Style" panose="02050604050505020204" pitchFamily="18" charset="0"/>
              </a:rPr>
            </a:br>
            <a:r>
              <a:rPr lang="en-IN" sz="3200" b="1" dirty="0">
                <a:latin typeface="Times New Roman" panose="02020603050405020304" pitchFamily="18" charset="0"/>
                <a:ea typeface="Bookman Old Style" panose="02050604050505020204" pitchFamily="18" charset="0"/>
              </a:rPr>
              <a:t>Random Forest Algorithm</a:t>
            </a:r>
            <a:r>
              <a:rPr lang="en-US" sz="3200" b="1" dirty="0"/>
              <a:t>”</a:t>
            </a:r>
            <a:endParaRPr lang="en-IN" sz="32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0" y="3011322"/>
            <a:ext cx="5319467" cy="3200400"/>
          </a:xfrm>
        </p:spPr>
        <p:txBody>
          <a:bodyPr>
            <a:normAutofit/>
          </a:bodyPr>
          <a:lstStyle/>
          <a:p>
            <a:endParaRPr lang="en-US" sz="2000" b="1" dirty="0">
              <a:solidFill>
                <a:srgbClr val="000000"/>
              </a:solidFill>
              <a:ea typeface="Calibri"/>
            </a:endParaRPr>
          </a:p>
          <a:p>
            <a:endParaRPr lang="en-US" sz="2000" dirty="0">
              <a:solidFill>
                <a:srgbClr val="000000"/>
              </a:solidFill>
              <a:ea typeface="Calibri"/>
            </a:endParaRPr>
          </a:p>
          <a:p>
            <a:pPr algn="just"/>
            <a:r>
              <a:rPr lang="en-US" sz="2000" dirty="0">
                <a:solidFill>
                  <a:srgbClr val="000000"/>
                </a:solidFill>
                <a:ea typeface="Calibri"/>
              </a:rPr>
              <a:t>Under the Guidance of</a:t>
            </a:r>
            <a:endParaRPr lang="en-IN" sz="2000" dirty="0">
              <a:solidFill>
                <a:srgbClr val="000000"/>
              </a:solidFill>
              <a:ea typeface="Calibri"/>
            </a:endParaRPr>
          </a:p>
          <a:p>
            <a:pPr algn="just"/>
            <a:r>
              <a:rPr lang="en-IN" sz="1900" b="1" dirty="0" err="1">
                <a:solidFill>
                  <a:srgbClr val="000000"/>
                </a:solidFill>
                <a:latin typeface="Times New Roman" panose="02020603050405020304" pitchFamily="18" charset="0"/>
                <a:ea typeface="Bookman Old Style" panose="02050604050505020204" pitchFamily="18" charset="0"/>
              </a:rPr>
              <a:t>D</a:t>
            </a:r>
            <a:r>
              <a:rPr lang="en-IN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r.</a:t>
            </a:r>
            <a:r>
              <a:rPr lang="en-IN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 </a:t>
            </a:r>
            <a:r>
              <a:rPr lang="en-IN" sz="1900" b="1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Suhandas</a:t>
            </a:r>
            <a:r>
              <a:rPr lang="en-IN" sz="1900" b="1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Bookman Old Style" panose="02050604050505020204" pitchFamily="18" charset="0"/>
              </a:rPr>
              <a:t> </a:t>
            </a:r>
            <a:endParaRPr lang="en-IN" sz="1900" dirty="0">
              <a:solidFill>
                <a:srgbClr val="000000"/>
              </a:solidFill>
              <a:ea typeface="Calibri"/>
            </a:endParaRPr>
          </a:p>
          <a:p>
            <a:pPr algn="just"/>
            <a:r>
              <a:rPr lang="en-US" sz="1900" dirty="0">
                <a:solidFill>
                  <a:schemeClr val="tx1"/>
                </a:solidFill>
              </a:rPr>
              <a:t>Asst. Prof., Dept. of ECE</a:t>
            </a:r>
          </a:p>
          <a:p>
            <a:pPr algn="just"/>
            <a:endParaRPr lang="en-IN" sz="1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67481" y="4267200"/>
            <a:ext cx="4572000" cy="67710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00"/>
              </a:solidFill>
              <a:ea typeface="Calibri"/>
            </a:endParaRPr>
          </a:p>
          <a:p>
            <a:r>
              <a:rPr lang="en-US" sz="2000" dirty="0">
                <a:solidFill>
                  <a:srgbClr val="000000"/>
                </a:solidFill>
                <a:latin typeface="Times New Roman"/>
                <a:ea typeface="Calibri"/>
              </a:rPr>
              <a:t> </a:t>
            </a:r>
            <a:endParaRPr lang="en-IN" sz="2000" dirty="0">
              <a:solidFill>
                <a:srgbClr val="000000"/>
              </a:solidFill>
              <a:latin typeface="Times New Roman"/>
              <a:ea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79C0A6-31A3-5F16-F61B-BBBB897AC7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3062" y="328266"/>
            <a:ext cx="6969126" cy="1229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4;p1">
            <a:extLst>
              <a:ext uri="{FF2B5EF4-FFF2-40B4-BE49-F238E27FC236}">
                <a16:creationId xmlns:a16="http://schemas.microsoft.com/office/drawing/2014/main" id="{1B372189-3D01-984D-61B7-F6D8AFB810A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10315" y="368550"/>
            <a:ext cx="1405085" cy="122741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Subtitle 2">
            <a:extLst>
              <a:ext uri="{FF2B5EF4-FFF2-40B4-BE49-F238E27FC236}">
                <a16:creationId xmlns:a16="http://schemas.microsoft.com/office/drawing/2014/main" id="{96E50798-FA66-FA00-A8B9-33A80DC8D03F}"/>
              </a:ext>
            </a:extLst>
          </p:cNvPr>
          <p:cNvSpPr txBox="1">
            <a:spLocks/>
          </p:cNvSpPr>
          <p:nvPr/>
        </p:nvSpPr>
        <p:spPr>
          <a:xfrm>
            <a:off x="-1905000" y="3611191"/>
            <a:ext cx="6324600" cy="25177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Presented by</a:t>
            </a:r>
            <a:endParaRPr lang="en-IN" sz="2000" b="1" dirty="0">
              <a:solidFill>
                <a:schemeClr val="tx1"/>
              </a:solidFill>
            </a:endParaRPr>
          </a:p>
          <a:p>
            <a:pPr algn="l"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en-US" sz="19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Akash K P </a:t>
            </a: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(4JK22EC002)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US" sz="19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Abhishek M V </a:t>
            </a: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(4JK22EC001)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19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Ankitha K V </a:t>
            </a: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(4JK22EC006)</a:t>
            </a:r>
          </a:p>
          <a:p>
            <a:pPr algn="l">
              <a:spcBef>
                <a:spcPts val="600"/>
              </a:spcBef>
              <a:spcAft>
                <a:spcPts val="600"/>
              </a:spcAft>
              <a:tabLst>
                <a:tab pos="551815" algn="l"/>
                <a:tab pos="3420110" algn="ctr"/>
              </a:tabLst>
            </a:pP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</a:t>
            </a:r>
            <a:r>
              <a:rPr lang="en-US" sz="1900" b="1" dirty="0" err="1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Anjelo</a:t>
            </a:r>
            <a:r>
              <a:rPr lang="en-US" sz="1900" b="1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Gig</a:t>
            </a:r>
            <a:r>
              <a:rPr lang="en-US" sz="1900" dirty="0">
                <a:solidFill>
                  <a:schemeClr val="tx1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  (4JK22EC004)</a:t>
            </a:r>
            <a:endParaRPr lang="en-IN" sz="1900" dirty="0">
              <a:solidFill>
                <a:schemeClr val="tx1"/>
              </a:solidFill>
              <a:ea typeface="Calibri"/>
            </a:endParaRPr>
          </a:p>
          <a:p>
            <a:endParaRPr lang="en-IN" sz="1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C95655F5-BC3E-F7F1-164A-71D2E24F88F5}"/>
              </a:ext>
            </a:extLst>
          </p:cNvPr>
          <p:cNvSpPr txBox="1">
            <a:spLocks/>
          </p:cNvSpPr>
          <p:nvPr/>
        </p:nvSpPr>
        <p:spPr>
          <a:xfrm>
            <a:off x="270333" y="5791200"/>
            <a:ext cx="1973934" cy="5631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b="1" dirty="0">
                <a:solidFill>
                  <a:schemeClr val="tx1"/>
                </a:solidFill>
              </a:rPr>
              <a:t>V SEM E &amp; C</a:t>
            </a:r>
            <a:endParaRPr lang="en-US" sz="2000" b="1" dirty="0">
              <a:solidFill>
                <a:srgbClr val="000000"/>
              </a:solidFill>
              <a:ea typeface="Calibri"/>
            </a:endParaRPr>
          </a:p>
          <a:p>
            <a:endParaRPr lang="en-IN" sz="1800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145225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510350"/>
            <a:ext cx="7886700" cy="4666613"/>
          </a:xfrm>
        </p:spPr>
        <p:txBody>
          <a:bodyPr>
            <a:normAutofit/>
          </a:bodyPr>
          <a:lstStyle/>
          <a:p>
            <a:r>
              <a:rPr lang="en-US" sz="2500" dirty="0"/>
              <a:t>Introduction</a:t>
            </a:r>
          </a:p>
          <a:p>
            <a:r>
              <a:rPr lang="en-US" sz="2500" dirty="0"/>
              <a:t>Problem statement</a:t>
            </a:r>
          </a:p>
          <a:p>
            <a:r>
              <a:rPr lang="en-US" sz="2500" dirty="0"/>
              <a:t>Objectives</a:t>
            </a:r>
          </a:p>
          <a:p>
            <a:r>
              <a:rPr lang="en-US" sz="2500" dirty="0"/>
              <a:t>Literature Survey</a:t>
            </a:r>
          </a:p>
          <a:p>
            <a:r>
              <a:rPr lang="en-IN" sz="2400" dirty="0"/>
              <a:t>Methodology</a:t>
            </a:r>
          </a:p>
          <a:p>
            <a:r>
              <a:rPr lang="en-IN" sz="2400" dirty="0"/>
              <a:t>Expected outcome</a:t>
            </a:r>
          </a:p>
          <a:p>
            <a:r>
              <a:rPr lang="en-IN" sz="2400" dirty="0"/>
              <a:t>Timeline</a:t>
            </a:r>
            <a:endParaRPr lang="en-US" sz="2400" dirty="0"/>
          </a:p>
          <a:p>
            <a:r>
              <a:rPr lang="en-US" sz="2500" dirty="0"/>
              <a:t>Conclusion	</a:t>
            </a:r>
          </a:p>
          <a:p>
            <a:r>
              <a:rPr lang="en-US" sz="2500" dirty="0"/>
              <a:t>References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F91D-293D-464F-93E1-26EDB181880D}" type="datetime1">
              <a:rPr lang="en-IN" smtClean="0"/>
              <a:t>16-10-2024</a:t>
            </a:fld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2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1952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30252"/>
          </a:xfrm>
        </p:spPr>
        <p:txBody>
          <a:bodyPr>
            <a:normAutofit fontScale="90000"/>
          </a:bodyPr>
          <a:lstStyle/>
          <a:p>
            <a:r>
              <a:rPr lang="en-US" dirty="0"/>
              <a:t>Introduction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FBF344-D7D8-4C88-B924-6A929C4EE854}" type="datetime1">
              <a:rPr lang="en-IN" smtClean="0"/>
              <a:t>16-10-2024</a:t>
            </a:fld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3</a:t>
            </a:fld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491BF3-31CF-7D59-5442-4784516B22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04890"/>
            <a:ext cx="82296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Sepsis is a life-threatening condition caused by the body’s extreme response to infection, resulting in tissue damage and organ failure.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prediction of sepsis is critical for improving patient outcomes and reducing mortality rates.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According to the World Health Organization, sepsis affects millions globally and accounts for approximately 20% of deaths in hospitals, making it a leading cause of mortality in Intensive Care Units.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Our project aims to develop a predictive model for early sepsis detection using machine learning techniques.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By enabling healthcare providers to identify at-risk patients quickly, we hope to enhance treatment effectiveness and ultimately save lives.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41960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To develop a real-time hardware system that continuously collects and monitors patients' vital signs, integrating a Random Forest machine learning model for accurate sepsis prediction. </a:t>
            </a:r>
          </a:p>
          <a:p>
            <a:pPr algn="just"/>
            <a:r>
              <a:rPr lang="en-US" sz="2400" dirty="0"/>
              <a:t>To create a user-friendly interface for healthcare professionals to enter patient data, facilitating timely interventions. </a:t>
            </a:r>
          </a:p>
          <a:p>
            <a:pPr algn="just"/>
            <a:r>
              <a:rPr lang="en-US" sz="2400" dirty="0"/>
              <a:t>The project will focus on enhancing the reliability and accuracy of predictions while addressing challenges related to data management and communication in a healthcare environment.</a:t>
            </a:r>
          </a:p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C6C293-0697-4692-B371-E65A3BA9B946}" type="datetime1">
              <a:rPr lang="en-IN" smtClean="0"/>
              <a:t>16-10-2024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4</a:t>
            </a:fld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05698"/>
            <a:ext cx="8229600" cy="853154"/>
          </a:xfrm>
        </p:spPr>
        <p:txBody>
          <a:bodyPr>
            <a:normAutofit/>
          </a:bodyPr>
          <a:lstStyle/>
          <a:p>
            <a:r>
              <a:rPr lang="en-US" dirty="0"/>
              <a:t>Objectives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5406" y="991677"/>
            <a:ext cx="8229600" cy="5137149"/>
          </a:xfrm>
        </p:spPr>
        <p:txBody>
          <a:bodyPr>
            <a:normAutofit fontScale="25000" lnSpcReduction="20000"/>
          </a:bodyPr>
          <a:lstStyle/>
          <a:p>
            <a:pPr algn="just"/>
            <a:r>
              <a:rPr lang="en-US" sz="9600" dirty="0"/>
              <a:t>Develop a Random Forest-based machine learning model that integrates patient vital signs, demographic details, and health history to enhance early prediction of sepsis.</a:t>
            </a:r>
          </a:p>
          <a:p>
            <a:pPr marL="0" indent="0" algn="just">
              <a:buNone/>
            </a:pPr>
            <a:endParaRPr lang="en-US" sz="9600" dirty="0"/>
          </a:p>
          <a:p>
            <a:pPr algn="just"/>
            <a:r>
              <a:rPr lang="en-US" sz="9600" dirty="0"/>
              <a:t>Create a user-friendly interface for healthcare professionals to easily enter patient lab details and other critical information.</a:t>
            </a:r>
          </a:p>
          <a:p>
            <a:pPr algn="just"/>
            <a:endParaRPr lang="en-US" sz="9600" dirty="0"/>
          </a:p>
          <a:p>
            <a:pPr algn="just"/>
            <a:r>
              <a:rPr lang="en-US" sz="9600" dirty="0"/>
              <a:t>Provide clear output regarding the patient's risk level for sepsis, indicating whether the patient is at risk, to facilitate timely intervention and improve patient outcomes.</a:t>
            </a:r>
          </a:p>
          <a:p>
            <a:pPr algn="just"/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AJIET </a:t>
            </a:r>
            <a:r>
              <a:rPr lang="en-IN" dirty="0" err="1"/>
              <a:t>Mangaluru</a:t>
            </a:r>
            <a:endParaRPr lang="en-IN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3E60A-3427-49B7-9028-EE010E7F64B3}" type="datetime1">
              <a:rPr lang="en-IN" smtClean="0"/>
              <a:t>16-10-2024</a:t>
            </a:fld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5</a:t>
            </a:fld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48610"/>
            <a:ext cx="8229600" cy="1143000"/>
          </a:xfrm>
        </p:spPr>
        <p:txBody>
          <a:bodyPr/>
          <a:lstStyle/>
          <a:p>
            <a:r>
              <a:rPr lang="en-US" dirty="0"/>
              <a:t>Literature Survey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648200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endParaRPr lang="en-IN" dirty="0"/>
          </a:p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04DFA0-AA7B-47C2-A301-68226D1DDD75}" type="datetime1">
              <a:rPr lang="en-IN" smtClean="0"/>
              <a:t>16-10-2024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6</a:t>
            </a:fld>
            <a:endParaRPr lang="en-IN"/>
          </a:p>
        </p:txBody>
      </p:sp>
      <p:graphicFrame>
        <p:nvGraphicFramePr>
          <p:cNvPr id="4" name="Content Placeholder 6">
            <a:extLst>
              <a:ext uri="{FF2B5EF4-FFF2-40B4-BE49-F238E27FC236}">
                <a16:creationId xmlns:a16="http://schemas.microsoft.com/office/drawing/2014/main" id="{8945E9EC-EFEC-A4FF-C74A-E3AF1D9F5AA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4391008"/>
              </p:ext>
            </p:extLst>
          </p:nvPr>
        </p:nvGraphicFramePr>
        <p:xfrm>
          <a:off x="190500" y="838200"/>
          <a:ext cx="8763000" cy="5595253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1143482">
                  <a:extLst>
                    <a:ext uri="{9D8B030D-6E8A-4147-A177-3AD203B41FA5}">
                      <a16:colId xmlns:a16="http://schemas.microsoft.com/office/drawing/2014/main" val="756274596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824998916"/>
                    </a:ext>
                  </a:extLst>
                </a:gridCol>
                <a:gridCol w="1691158">
                  <a:extLst>
                    <a:ext uri="{9D8B030D-6E8A-4147-A177-3AD203B41FA5}">
                      <a16:colId xmlns:a16="http://schemas.microsoft.com/office/drawing/2014/main" val="2663199724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852395936"/>
                    </a:ext>
                  </a:extLst>
                </a:gridCol>
                <a:gridCol w="2545080">
                  <a:extLst>
                    <a:ext uri="{9D8B030D-6E8A-4147-A177-3AD203B41FA5}">
                      <a16:colId xmlns:a16="http://schemas.microsoft.com/office/drawing/2014/main" val="472064314"/>
                    </a:ext>
                  </a:extLst>
                </a:gridCol>
              </a:tblGrid>
              <a:tr h="166513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Author [citation]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</a:rPr>
                        <a:t>Title</a:t>
                      </a:r>
                      <a:endParaRPr lang="en-IN" sz="1300" b="1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Methodology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Features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Challenges</a:t>
                      </a:r>
                    </a:p>
                  </a:txBody>
                  <a:tcPr marL="35200" marR="35200" marT="0" marB="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8770592"/>
                  </a:ext>
                </a:extLst>
              </a:tr>
              <a:tr h="1203446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Sepsis Prediction Model for Determining Sepsis vs. SIRS, </a:t>
                      </a:r>
                      <a:r>
                        <a:rPr lang="en-IN" sz="1300" kern="100" dirty="0" err="1">
                          <a:effectLst/>
                        </a:rPr>
                        <a:t>qSOFA</a:t>
                      </a:r>
                      <a:r>
                        <a:rPr lang="en-IN" sz="1300" kern="100" dirty="0">
                          <a:effectLst/>
                        </a:rPr>
                        <a:t>, and SOFA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Sepsis Prediction Model (SPM) using hospital admission data (60,000+ patients)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High accuracy at high thresholds, EHR integration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Slow response time, high false negatives, complex decision-making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2183892785"/>
                  </a:ext>
                </a:extLst>
              </a:tr>
              <a:tr h="10306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Machine Learning for Early Prediction of Sepsis in ICU Patients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Logistic Regression, KNN, Naive Bayes, Survival Analysis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Comprehensive data, multiple algorithms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>
                          <a:effectLst/>
                        </a:rPr>
                        <a:t>Class imbalance, lower accuracy in certain models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3039120390"/>
                  </a:ext>
                </a:extLst>
              </a:tr>
              <a:tr h="1030623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Early Prediction of Sepsis Using Machine Learning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Random Forest, LGBM, </a:t>
                      </a:r>
                      <a:r>
                        <a:rPr lang="en-IN" sz="1300" kern="100" dirty="0" err="1">
                          <a:effectLst/>
                        </a:rPr>
                        <a:t>XGBoost</a:t>
                      </a:r>
                      <a:r>
                        <a:rPr lang="en-IN" sz="1300" kern="100" dirty="0">
                          <a:effectLst/>
                        </a:rPr>
                        <a:t> on PhysioNet dataset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Early detection (up to 6 hours), better data handling with mixed filling method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Imbalanced data, complex models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736044710"/>
                  </a:ext>
                </a:extLst>
              </a:tr>
              <a:tr h="857802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Early Biomarker Signatures for Sepsis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Random Forest with data augmentation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Effective biomarker detection, improved accuracy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Low interpretability, high false positives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41651231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b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</a:t>
                      </a: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Random Forest Classifier for Early Sepsis Detection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Random Forest on MIMIC-III &amp; </a:t>
                      </a:r>
                      <a:r>
                        <a:rPr lang="en-IN" sz="1300" kern="100" dirty="0" err="1">
                          <a:effectLst/>
                        </a:rPr>
                        <a:t>eICU</a:t>
                      </a:r>
                      <a:r>
                        <a:rPr lang="en-IN" sz="1300" kern="100" dirty="0">
                          <a:effectLst/>
                        </a:rPr>
                        <a:t> databases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>
                          <a:effectLst/>
                        </a:rPr>
                        <a:t>Good early detection, external validation</a:t>
                      </a:r>
                      <a:endParaRPr lang="en-IN" sz="1300" kern="1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800"/>
                        </a:spcAft>
                      </a:pPr>
                      <a:r>
                        <a:rPr lang="en-IN" sz="1300" kern="100" dirty="0">
                          <a:effectLst/>
                        </a:rPr>
                        <a:t>Data imbalance, low specificity</a:t>
                      </a:r>
                      <a:endParaRPr lang="en-IN" sz="1300" kern="1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5200" marR="35200" marT="0" marB="0"/>
                </a:tc>
                <a:extLst>
                  <a:ext uri="{0D108BD9-81ED-4DB2-BD59-A6C34878D82A}">
                    <a16:rowId xmlns:a16="http://schemas.microsoft.com/office/drawing/2014/main" val="233664599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F2F38-93DC-CAB2-1993-12ABDBE05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60320" y="371019"/>
            <a:ext cx="5486400" cy="566738"/>
          </a:xfrm>
        </p:spPr>
        <p:txBody>
          <a:bodyPr>
            <a:noAutofit/>
          </a:bodyPr>
          <a:lstStyle/>
          <a:p>
            <a:r>
              <a:rPr lang="en-US" sz="4400" b="0" dirty="0"/>
              <a:t>Methodology</a:t>
            </a:r>
            <a:endParaRPr lang="en-IN" sz="4400" b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E8F359EC-A898-2CE8-F1CD-F8B9B83F3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08340" y="6030166"/>
            <a:ext cx="3129943" cy="403964"/>
          </a:xfrm>
        </p:spPr>
        <p:txBody>
          <a:bodyPr/>
          <a:lstStyle/>
          <a:p>
            <a:r>
              <a:rPr lang="en-IN" dirty="0"/>
              <a:t>Fig. 1  Block diagram proposed approach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B50279-5D0F-1F9C-0A5D-2D9FC8327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6173C2-7D74-EC08-3284-08CDD95B2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47F4A3-F2B6-08E2-CD99-4F116F16B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7</a:t>
            </a:fld>
            <a:endParaRPr lang="en-IN" dirty="0"/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E1CCBD95-767D-33D3-B574-E34AB4BDAA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4739" y="3467876"/>
            <a:ext cx="1602518" cy="985018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b="1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DS18B20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(Temperature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Sensor)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727D901-0558-49D5-39EE-516B1691F2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756" y="2156563"/>
            <a:ext cx="1424832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MAX30102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ea typeface="Aptos" panose="020B0004020202020204" pitchFamily="34" charset="0"/>
                <a:cs typeface="Times New Roman" panose="02020603050405020304" pitchFamily="18" charset="0"/>
              </a:rPr>
              <a:t>(Heart rate and SpO2 sensor)</a:t>
            </a: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C01103B-15CC-725C-EBB7-EB431534E6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6767" y="2274279"/>
            <a:ext cx="1210956" cy="2050569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Arial" panose="020B0604020202020204" pitchFamily="34" charset="0"/>
              </a:rPr>
              <a:t>ESP32</a:t>
            </a:r>
            <a:endParaRPr kumimoji="0" lang="en-US" altLang="en-US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4B5F95FA-6F92-1EEC-548C-3723EC32F1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3185" y="1295402"/>
            <a:ext cx="4245052" cy="4575173"/>
          </a:xfrm>
          <a:prstGeom prst="rect">
            <a:avLst/>
          </a:pr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          </a:t>
            </a:r>
            <a:r>
              <a:rPr kumimoji="0" lang="en-US" altLang="en-US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Google Cloud 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- </a:t>
            </a: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Web Server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7BFA30C-EB96-10F6-D12F-1E26ADF148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72177" y="1922710"/>
            <a:ext cx="1698549" cy="16465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Random Forest Prediction Model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08119B71-357B-0F3C-4CD1-8793F9AAB4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4648" y="1929558"/>
            <a:ext cx="1573300" cy="170422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Risk Assessment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Rectangle 5">
            <a:extLst>
              <a:ext uri="{FF2B5EF4-FFF2-40B4-BE49-F238E27FC236}">
                <a16:creationId xmlns:a16="http://schemas.microsoft.com/office/drawing/2014/main" id="{D7792F29-456F-C57B-C1A3-86C534DAC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64442" y="4324848"/>
            <a:ext cx="1308379" cy="8855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Display Results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Rectangle 3">
            <a:extLst>
              <a:ext uri="{FF2B5EF4-FFF2-40B4-BE49-F238E27FC236}">
                <a16:creationId xmlns:a16="http://schemas.microsoft.com/office/drawing/2014/main" id="{A1F25610-C0CE-48B4-8C09-6C7F62AEC6E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1502" y="3364329"/>
            <a:ext cx="981486" cy="596057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Wi-Fi Module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82BF44AF-423C-AC43-526C-BACC344862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0968" y="3997367"/>
            <a:ext cx="1698549" cy="1565231"/>
          </a:xfrm>
          <a:prstGeom prst="rect">
            <a:avLst/>
          </a:prstGeom>
          <a:solidFill>
            <a:srgbClr val="FFFFFF"/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Clinical Data Entry Interface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664876DA-18D4-4B86-FF8B-BE7F03CBD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-53975" y="-24581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02FFA63-289E-20F7-3380-DC2A35A8E653}"/>
              </a:ext>
            </a:extLst>
          </p:cNvPr>
          <p:cNvSpPr/>
          <p:nvPr/>
        </p:nvSpPr>
        <p:spPr>
          <a:xfrm>
            <a:off x="457200" y="1298323"/>
            <a:ext cx="3527347" cy="4541836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en-IN" sz="2000" dirty="0"/>
              <a:t>Hardware setup</a:t>
            </a:r>
          </a:p>
        </p:txBody>
      </p:sp>
      <p:pic>
        <p:nvPicPr>
          <p:cNvPr id="21" name="Graphic 20" descr="Line arrow: Straight with solid fill">
            <a:extLst>
              <a:ext uri="{FF2B5EF4-FFF2-40B4-BE49-F238E27FC236}">
                <a16:creationId xmlns:a16="http://schemas.microsoft.com/office/drawing/2014/main" id="{EC14C4AB-19EB-485D-F525-0EE742CF54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003936" y="2483124"/>
            <a:ext cx="626383" cy="498016"/>
          </a:xfrm>
          <a:prstGeom prst="rect">
            <a:avLst/>
          </a:prstGeom>
        </p:spPr>
      </p:pic>
      <p:pic>
        <p:nvPicPr>
          <p:cNvPr id="22" name="Graphic 21" descr="Line arrow: Straight with solid fill">
            <a:extLst>
              <a:ext uri="{FF2B5EF4-FFF2-40B4-BE49-F238E27FC236}">
                <a16:creationId xmlns:a16="http://schemas.microsoft.com/office/drawing/2014/main" id="{B6E8437B-A81B-B7FB-DA6B-442E9BBA56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2190647" y="3482624"/>
            <a:ext cx="415940" cy="498016"/>
          </a:xfrm>
          <a:prstGeom prst="rect">
            <a:avLst/>
          </a:prstGeom>
        </p:spPr>
      </p:pic>
      <p:pic>
        <p:nvPicPr>
          <p:cNvPr id="23" name="Graphic 22" descr="Line arrow: Straight with solid fill">
            <a:extLst>
              <a:ext uri="{FF2B5EF4-FFF2-40B4-BE49-F238E27FC236}">
                <a16:creationId xmlns:a16="http://schemas.microsoft.com/office/drawing/2014/main" id="{42BA1A43-37E8-7B77-032E-4C63F27424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3770678" y="2841878"/>
            <a:ext cx="947979" cy="498016"/>
          </a:xfrm>
          <a:prstGeom prst="rect">
            <a:avLst/>
          </a:prstGeom>
        </p:spPr>
      </p:pic>
      <p:pic>
        <p:nvPicPr>
          <p:cNvPr id="24" name="Graphic 23" descr="Line arrow: Straight with solid fill">
            <a:extLst>
              <a:ext uri="{FF2B5EF4-FFF2-40B4-BE49-F238E27FC236}">
                <a16:creationId xmlns:a16="http://schemas.microsoft.com/office/drawing/2014/main" id="{EA3907C9-E628-88A6-B6EA-8AA1B3BEF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6345093" y="2630696"/>
            <a:ext cx="556678" cy="498016"/>
          </a:xfrm>
          <a:prstGeom prst="rect">
            <a:avLst/>
          </a:prstGeom>
        </p:spPr>
      </p:pic>
      <p:pic>
        <p:nvPicPr>
          <p:cNvPr id="25" name="Graphic 24" descr="Line arrow: Straight with solid fill">
            <a:extLst>
              <a:ext uri="{FF2B5EF4-FFF2-40B4-BE49-F238E27FC236}">
                <a16:creationId xmlns:a16="http://schemas.microsoft.com/office/drawing/2014/main" id="{A42790AF-F271-7FB7-8062-0F049E6B19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5260838" y="3494538"/>
            <a:ext cx="439144" cy="566520"/>
          </a:xfrm>
          <a:prstGeom prst="rect">
            <a:avLst/>
          </a:prstGeom>
        </p:spPr>
      </p:pic>
      <p:pic>
        <p:nvPicPr>
          <p:cNvPr id="26" name="Graphic 25" descr="Line arrow: Straight with solid fill">
            <a:extLst>
              <a:ext uri="{FF2B5EF4-FFF2-40B4-BE49-F238E27FC236}">
                <a16:creationId xmlns:a16="http://schemas.microsoft.com/office/drawing/2014/main" id="{293427E1-1076-A1ED-298C-09A2163DB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7297959" y="3733827"/>
            <a:ext cx="672032" cy="4531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255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41C7DD-C246-AF8E-B18E-A86D35611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C45AB4-A272-1670-D0B0-6E0D775E2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ED82DB-7344-C390-16B6-2DF97FED5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8</a:t>
            </a:fld>
            <a:endParaRPr lang="en-IN"/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83CF9FD0-DBE6-2231-EC8F-EB677754011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070839"/>
            <a:ext cx="8305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Sensor Module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This module consists of various sensors that continuously monitor vital signs.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ESP32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ESP32 is a powerful </a:t>
            </a:r>
            <a:r>
              <a:rPr lang="en-US" altLang="en-US" sz="2400" dirty="0"/>
              <a:t>SoC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with built-in Wi-Fi capabilities. It processes the data received from the sensor module. This component facilitates the transmission of processed data from the ESP32 to the web server. 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Web Server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A remote server that receives data from the ESP32 and processes it using a machine learning model (Random Forest). The server analyzes the incoming data to predict the risk of sepsis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User Interface for Clinical Experts</a:t>
            </a:r>
            <a:r>
              <a:rPr lang="en-US" sz="2400" dirty="0"/>
              <a:t>: A web-based interface or application that allows healthcare professionals to input additional patient data, such as medical history and lab results.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205148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86119-8A5B-C5CF-CA98-2209A2A83A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Expected Outcome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1A96E-E771-B17C-2EDF-46E66142B5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73EB09-09B7-7481-7909-6A6F6D2E4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C82D09-518C-D79E-2A2F-328551A5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9</a:t>
            </a:fld>
            <a:endParaRPr lang="en-IN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F24E8C2B-C97D-F535-0A82-E321AB3D4E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200" y="1417638"/>
            <a:ext cx="8001000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Detection of Sepsis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The system will enable timely identification of patients at risk of developing sepsis by continuously monitoring vital signs and applying machine learning algorithms for prediction.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Improved Patient Management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Healthcare providers will have access to real-time data and alerts regarding patients' conditions, allowing for more informed decision-making and prompt medical intervention.</a:t>
            </a:r>
          </a:p>
          <a:p>
            <a:pPr marL="457200" marR="0" lvl="0" indent="-45720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Enhanced Predictive Accuracy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By integrating various patient data, including vital signs and medical history, the prediction model will improve its accuracy in assessing sepsis risk, potentially leading to better clinical outcomes.</a:t>
            </a:r>
          </a:p>
        </p:txBody>
      </p:sp>
    </p:spTree>
    <p:extLst>
      <p:ext uri="{BB962C8B-B14F-4D97-AF65-F5344CB8AC3E}">
        <p14:creationId xmlns:p14="http://schemas.microsoft.com/office/powerpoint/2010/main" val="39744927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3F056-9241-744D-3084-DBBE67D44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609600"/>
            <a:ext cx="8229600" cy="4525963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 startAt="4"/>
            </a:pPr>
            <a:r>
              <a:rPr lang="en-US" sz="2400" b="1" dirty="0"/>
              <a:t>User-Friendly Interface</a:t>
            </a:r>
            <a:r>
              <a:rPr lang="en-US" sz="2400" dirty="0"/>
              <a:t>: The web-based interface will facilitate easy data entry and retrieval for clinical experts, streamlining the process of monitoring patient conditions and updating records.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90E550-EFCB-626F-F294-A1D11CA0A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870F2-5A2F-D534-817B-BE4D7E0A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59E932-B2E7-3ECE-93D3-E72E86057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13914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1D77D-B45C-6C08-5358-51EC3BE70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Times New Roman"/>
                <a:cs typeface="Times New Roman"/>
                <a:sym typeface="Times New Roman"/>
              </a:rPr>
              <a:t>Time line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734862F7-7466-B719-C331-AA5142773A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4305615"/>
              </p:ext>
            </p:extLst>
          </p:nvPr>
        </p:nvGraphicFramePr>
        <p:xfrm>
          <a:off x="457200" y="1600200"/>
          <a:ext cx="7754532" cy="2796564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425063">
                  <a:extLst>
                    <a:ext uri="{9D8B030D-6E8A-4147-A177-3AD203B41FA5}">
                      <a16:colId xmlns:a16="http://schemas.microsoft.com/office/drawing/2014/main" val="1569760534"/>
                    </a:ext>
                  </a:extLst>
                </a:gridCol>
                <a:gridCol w="5823337">
                  <a:extLst>
                    <a:ext uri="{9D8B030D-6E8A-4147-A177-3AD203B41FA5}">
                      <a16:colId xmlns:a16="http://schemas.microsoft.com/office/drawing/2014/main" val="254693818"/>
                    </a:ext>
                  </a:extLst>
                </a:gridCol>
                <a:gridCol w="1506132">
                  <a:extLst>
                    <a:ext uri="{9D8B030D-6E8A-4147-A177-3AD203B41FA5}">
                      <a16:colId xmlns:a16="http://schemas.microsoft.com/office/drawing/2014/main" val="650716547"/>
                    </a:ext>
                  </a:extLst>
                </a:gridCol>
              </a:tblGrid>
              <a:tr h="52578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SI No.</a:t>
                      </a:r>
                      <a:endParaRPr sz="15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400" u="none" strike="noStrike" cap="none" dirty="0"/>
                        <a:t>                                                       </a:t>
                      </a: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Description</a:t>
                      </a:r>
                      <a:endParaRPr sz="1100" u="none" strike="noStrike" cap="none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       Time</a:t>
                      </a:r>
                      <a:endParaRPr sz="1100" u="none" strike="noStrike" cap="none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1406324897"/>
                  </a:ext>
                </a:extLst>
              </a:tr>
              <a:tr h="3429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/>
                        <a:t>1.</a:t>
                      </a:r>
                      <a:endParaRPr sz="1500" u="none" strike="noStrike" cap="none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planning, research and proposal submission</a:t>
                      </a: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    1</a:t>
                      </a:r>
                      <a:r>
                        <a:rPr lang="en-US" sz="1500" dirty="0"/>
                        <a:t>5</a:t>
                      </a:r>
                      <a:r>
                        <a:rPr lang="en-US" sz="1500" u="none" strike="noStrike" cap="none" dirty="0"/>
                        <a:t>-10-2024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2094035036"/>
                  </a:ext>
                </a:extLst>
              </a:tr>
              <a:tr h="35050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/>
                        <a:t>2.</a:t>
                      </a:r>
                      <a:endParaRPr sz="1500" u="none" strike="noStrike" cap="none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Initial hardware setup and dataset collection             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    30-10-2024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2073666274"/>
                  </a:ext>
                </a:extLst>
              </a:tr>
              <a:tr h="3429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/>
                        <a:t>3.</a:t>
                      </a:r>
                      <a:endParaRPr sz="1500" u="none" strike="noStrike" cap="none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Random Forest model training and testing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Web server integration and UI creation</a:t>
                      </a: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    20-11-2024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3677542453"/>
                  </a:ext>
                </a:extLst>
              </a:tr>
              <a:tr h="3429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b="0" u="none" strike="noStrike" cap="none" dirty="0"/>
                        <a:t>4.</a:t>
                      </a:r>
                      <a:endParaRPr sz="1500" b="0" u="none" strike="noStrike" cap="none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Conference paper preparation and presentation</a:t>
                      </a: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US" sz="1500" u="none" strike="noStrike" cap="none" dirty="0"/>
                        <a:t>    30-11-2024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579493033"/>
                  </a:ext>
                </a:extLst>
              </a:tr>
              <a:tr h="34290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1500" u="none" strike="noStrike" cap="none" dirty="0"/>
                        <a:t>5.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Testing, validation and final adjustments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IN" sz="1800" u="none" strike="noStrike" cap="none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Project completion</a:t>
                      </a:r>
                      <a:endParaRPr sz="1800" u="none" strike="noStrike" cap="none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68588" marR="68588" marT="34294" marB="34294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lang="en-IN" sz="1500" u="none" strike="noStrike" cap="none" dirty="0"/>
                        <a:t>    10-12-2024</a:t>
                      </a:r>
                      <a:endParaRPr sz="1500" u="none" strike="noStrike" cap="none" dirty="0"/>
                    </a:p>
                  </a:txBody>
                  <a:tcPr marL="68588" marR="68588" marT="34294" marB="34294"/>
                </a:tc>
                <a:extLst>
                  <a:ext uri="{0D108BD9-81ED-4DB2-BD59-A6C34878D82A}">
                    <a16:rowId xmlns:a16="http://schemas.microsoft.com/office/drawing/2014/main" val="2750323843"/>
                  </a:ext>
                </a:extLst>
              </a:tr>
            </a:tbl>
          </a:graphicData>
        </a:graphic>
      </p:graphicFrame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896790-5D5E-0158-1D72-3CD81EF13C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D30D30-8260-CCC8-CE10-09B62DCB3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A30C12-867C-0C8A-134F-F87329417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3778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EE1EE-7EE6-0943-129C-F580D52F4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DB1B9B-4D82-67A1-AE64-97642842C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>
            <a:noAutofit/>
          </a:bodyPr>
          <a:lstStyle/>
          <a:p>
            <a:pPr algn="just"/>
            <a:r>
              <a:rPr lang="en-US" sz="2400" dirty="0"/>
              <a:t>In conclusion, this real-time sepsis monitoring system has the potential to greatly enhance patient care by enabling early detection of sepsis through continuous vital sign monitoring.</a:t>
            </a:r>
          </a:p>
          <a:p>
            <a:pPr algn="just"/>
            <a:r>
              <a:rPr lang="en-US" sz="2400" dirty="0"/>
              <a:t> By utilizing machine learning for accurate predictions, healthcare providers can intervene swiftly, reducing the risks associated with sepsis. </a:t>
            </a:r>
          </a:p>
          <a:p>
            <a:pPr algn="just"/>
            <a:r>
              <a:rPr lang="en-US" sz="2400"/>
              <a:t>The </a:t>
            </a:r>
            <a:r>
              <a:rPr lang="en-US" sz="2400" dirty="0"/>
              <a:t>user-friendly interface further supports clinicians in entering essential patient data, improving the overall effectiveness of the predictive model</a:t>
            </a:r>
            <a:r>
              <a:rPr lang="en-US" sz="2400"/>
              <a:t>. </a:t>
            </a:r>
          </a:p>
          <a:p>
            <a:pPr algn="just"/>
            <a:r>
              <a:rPr lang="en-US" sz="2400"/>
              <a:t>Ultimately</a:t>
            </a:r>
            <a:r>
              <a:rPr lang="en-US" sz="2400" dirty="0"/>
              <a:t>, this project aims to improve patient safety and healthcare outcomes significantly.</a:t>
            </a:r>
            <a:endParaRPr lang="en-IN" sz="2400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8D8850-6619-AB69-8309-A08B72060D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4228-AA12-4196-AEF5-6FECB3000949}" type="datetime1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A59C4-287A-A085-9B20-F5A395F2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23BC2D-E0EA-CD57-4A6A-A51486D97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64190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-19493"/>
            <a:ext cx="8229600" cy="1219200"/>
          </a:xfrm>
        </p:spPr>
        <p:txBody>
          <a:bodyPr/>
          <a:lstStyle/>
          <a:p>
            <a:r>
              <a:rPr lang="en-US" dirty="0"/>
              <a:t>References</a:t>
            </a:r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D8B2-8E28-4D7B-9561-E79A365D0C62}" type="datetime1">
              <a:rPr lang="en-IN" smtClean="0"/>
              <a:t>16-10-2024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13</a:t>
            </a:fld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759512C-5583-39FA-1622-BEB1F8B8CFE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67586" y="1093371"/>
            <a:ext cx="8382000" cy="5262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[1]    Schertz, Lenoir,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Bertoni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 Levine, 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Mongraw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-Chaffin, &amp; T	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homas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(2023).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Sepsis prediction model for determining 	sepsis vs. SIRS,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qSOFA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and SOFA.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[2]	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Alanazi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Aldakhil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Aldhoayan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&amp;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Aldosari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,(2022).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Machine 	learning for early prediction of sepsis in intensive care 	unit (ICU) patients.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Department of Health Informatics, 	College of Public Health and Health Informatics, King Saud 	Ibn Abdulaziz University for Health Sciences, Riyadh, Saudi 	Arabia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[3]	Shankar, Diwan, Singh,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Nahrpurawala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&amp;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Bhowmick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,(2021). 	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prediction of sepsis using machine learning.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	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Proceedings of the 11th International Conference on Cloud 	Computing, Data Science &amp; Engineering (Confluence)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(pp. 	978-1-6654-1451-7). IEEE.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B68882-1091-031C-0C42-BAFA2D0AC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84217E-32AD-9550-7E15-4E0FE0479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6F6A55-C66F-F8A9-2DD6-D6D5A2647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B7D8B2-8E28-4D7B-9561-E79A365D0C62}" type="datetime1">
              <a:rPr lang="en-IN" smtClean="0"/>
              <a:t>16-10-2024</a:t>
            </a:fld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1DD302A-0CAB-9818-3831-C4FE71C4BF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14</a:t>
            </a:fld>
            <a:endParaRPr lang="en-IN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2AB4DDD5-0B50-0C50-93C8-0D3CAC434D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3900" y="348734"/>
            <a:ext cx="769620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[4]	Zhou, Shao, Wang, &amp; Wang, (2024).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An early sepsis 	prediction model utilizing machine learning and 	unbalanced data processing in a clinical context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	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Volume 45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[5] 	Lyra, Leonhardt, &amp; Hoog </a:t>
            </a:r>
            <a:r>
              <a:rPr kumimoji="0" lang="en-US" altLang="en-US" sz="24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Antink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(2019).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Early 	prediction of sepsis using random forest 	classification for imbalanced clinical data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</a:t>
            </a:r>
            <a:r>
              <a:rPr kumimoji="0" lang="en-US" altLang="en-US" sz="24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Medical 	Information Technology, Helmholtz-Institute for 	Biomedical Engineering, RWTH Aachen University, 	Germany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19231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</a:p>
          <a:p>
            <a:pPr>
              <a:buNone/>
            </a:pP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THANK YOU</a:t>
            </a:r>
          </a:p>
          <a:p>
            <a:endParaRPr lang="en-IN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AJIET Mangaluru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110490-F122-4C64-8A27-519045F0309A}" type="datetime1">
              <a:rPr lang="en-IN" smtClean="0"/>
              <a:t>16-10-2024</a:t>
            </a:fld>
            <a:endParaRPr lang="en-IN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0A3A97-690C-481D-B0C5-B7E8478245ED}" type="slidenum">
              <a:rPr lang="en-IN" smtClean="0"/>
              <a:pPr/>
              <a:t>15</a:t>
            </a:fld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4606</TotalTime>
  <Words>1272</Words>
  <Application>Microsoft Office PowerPoint</Application>
  <PresentationFormat>On-screen Show (4:3)</PresentationFormat>
  <Paragraphs>175</Paragraphs>
  <Slides>15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Arial</vt:lpstr>
      <vt:lpstr>Calibri</vt:lpstr>
      <vt:lpstr>Times New Roman</vt:lpstr>
      <vt:lpstr>Office Theme</vt:lpstr>
      <vt:lpstr>“Sepsis Detection using Wireless Sensors and  Random Forest Algorithm”</vt:lpstr>
      <vt:lpstr>Contents</vt:lpstr>
      <vt:lpstr>Introduction</vt:lpstr>
      <vt:lpstr>Problem Statement</vt:lpstr>
      <vt:lpstr>Objectives</vt:lpstr>
      <vt:lpstr>Literature Survey</vt:lpstr>
      <vt:lpstr>Methodology</vt:lpstr>
      <vt:lpstr>PowerPoint Presentation</vt:lpstr>
      <vt:lpstr>Expected Outcome</vt:lpstr>
      <vt:lpstr>PowerPoint Presentation</vt:lpstr>
      <vt:lpstr>Time line</vt:lpstr>
      <vt:lpstr>Conclusion</vt:lpstr>
      <vt:lpstr>References</vt:lpstr>
      <vt:lpstr>PowerPoint Presentation</vt:lpstr>
      <vt:lpstr>PowerPoint Presentation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“IMPLEMENTATION OF FLEXIBLE AND COMPACT HARDWARE ARCHITECTURE FOR CRYPTOGRAPHIC ALGORITHMS”</dc:title>
  <dc:creator>Kiranvg</dc:creator>
  <cp:lastModifiedBy>anjelogigi@gmail.com</cp:lastModifiedBy>
  <cp:revision>85</cp:revision>
  <dcterms:created xsi:type="dcterms:W3CDTF">2019-04-30T08:17:01Z</dcterms:created>
  <dcterms:modified xsi:type="dcterms:W3CDTF">2024-10-16T14:59:14Z</dcterms:modified>
</cp:coreProperties>
</file>